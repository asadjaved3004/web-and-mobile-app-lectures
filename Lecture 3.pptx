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61" r:id="rId3"/>
    <p:sldId id="262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63" r:id="rId13"/>
    <p:sldId id="264" r:id="rId14"/>
    <p:sldId id="280" r:id="rId15"/>
    <p:sldId id="281" r:id="rId16"/>
    <p:sldId id="282" r:id="rId17"/>
    <p:sldId id="283" r:id="rId18"/>
    <p:sldId id="284" r:id="rId19"/>
    <p:sldId id="285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4BD0D-F377-4BB2-950B-0ABDBF7025C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37254-F8D8-44B7-8D96-0638D1688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1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2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1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4F6-8B81-41C3-9539-DA183A3106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0388-B079-A389-5EBE-C58E4856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573A-2BBC-EE84-71B3-8B9EF275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D68E3-D30D-AA20-48F4-C569A026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5" y="788918"/>
            <a:ext cx="11132090" cy="37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2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81C-59EE-16DB-00C9-737771AE8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Lecture : 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6595-6D7A-271E-1DC9-E6C569455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 to Internet and Web Architecture</a:t>
            </a:r>
          </a:p>
        </p:txBody>
      </p:sp>
    </p:spTree>
    <p:extLst>
      <p:ext uri="{BB962C8B-B14F-4D97-AF65-F5344CB8AC3E}">
        <p14:creationId xmlns:p14="http://schemas.microsoft.com/office/powerpoint/2010/main" val="78981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CC88-7A03-4EBE-E5C3-231224D8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63F9-025F-2A77-D0C1-63BC64C8E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Internet is a huge global network made up of:</a:t>
            </a:r>
          </a:p>
          <a:p>
            <a:r>
              <a:rPr lang="en-US" dirty="0"/>
              <a:t>Computers</a:t>
            </a:r>
          </a:p>
          <a:p>
            <a:r>
              <a:rPr lang="en-US" dirty="0"/>
              <a:t>Mobile phones</a:t>
            </a:r>
          </a:p>
          <a:p>
            <a:r>
              <a:rPr lang="en-US" dirty="0"/>
              <a:t>Servers</a:t>
            </a:r>
          </a:p>
          <a:p>
            <a:r>
              <a:rPr lang="en-US" dirty="0"/>
              <a:t>Routers and cables</a:t>
            </a:r>
          </a:p>
          <a:p>
            <a:r>
              <a:rPr lang="en-US" dirty="0"/>
              <a:t>All these devices are connected and communicate using rules called protocols, mainly TCP/IP.</a:t>
            </a:r>
          </a:p>
          <a:p>
            <a:r>
              <a:rPr lang="en-US" dirty="0"/>
              <a:t>Example: When you open </a:t>
            </a:r>
            <a:r>
              <a:rPr lang="en-US" b="1" dirty="0"/>
              <a:t>www.google.com</a:t>
            </a:r>
            <a:r>
              <a:rPr lang="en-US" dirty="0"/>
              <a:t>, your device requests Google’s server to send the webpage.</a:t>
            </a:r>
          </a:p>
        </p:txBody>
      </p:sp>
    </p:spTree>
    <p:extLst>
      <p:ext uri="{BB962C8B-B14F-4D97-AF65-F5344CB8AC3E}">
        <p14:creationId xmlns:p14="http://schemas.microsoft.com/office/powerpoint/2010/main" val="400700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46C4-2CB3-53EA-64BB-04CE42CD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Protocols (TCP/IP)?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AC7A-DDAE-E15B-D1F0-C363710EB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Protocols are </a:t>
            </a:r>
            <a:r>
              <a:rPr lang="en-US" b="1" dirty="0"/>
              <a:t>rules</a:t>
            </a:r>
            <a:r>
              <a:rPr lang="en-US" dirty="0"/>
              <a:t> that tell devices:</a:t>
            </a:r>
          </a:p>
          <a:p>
            <a:r>
              <a:rPr lang="en-US" dirty="0"/>
              <a:t>How to send data</a:t>
            </a:r>
          </a:p>
          <a:p>
            <a:r>
              <a:rPr lang="en-US" dirty="0"/>
              <a:t>How to receive data</a:t>
            </a:r>
          </a:p>
          <a:p>
            <a:r>
              <a:rPr lang="en-US" dirty="0"/>
              <a:t>How to understand each other</a:t>
            </a:r>
          </a:p>
          <a:p>
            <a:r>
              <a:rPr lang="en-US" b="1" dirty="0"/>
              <a:t>TCP (Transmission Control Protocol)</a:t>
            </a:r>
          </a:p>
          <a:p>
            <a:r>
              <a:rPr lang="en-US" dirty="0"/>
              <a:t>Breaks data into small packets</a:t>
            </a:r>
          </a:p>
          <a:p>
            <a:r>
              <a:rPr lang="en-US" dirty="0"/>
              <a:t>Ensures all packets arrive correctly</a:t>
            </a:r>
          </a:p>
          <a:p>
            <a:r>
              <a:rPr lang="en-US" dirty="0"/>
              <a:t>Re-sends lost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99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31C84-529A-477E-96CF-3A20BF47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E8A0-CAC2-1F8B-984A-1A1C64DA0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IP (Internet Protocol)</a:t>
            </a:r>
          </a:p>
          <a:p>
            <a:r>
              <a:rPr lang="en-US" dirty="0"/>
              <a:t>Gives each device a unique address (IP address)</a:t>
            </a:r>
          </a:p>
          <a:p>
            <a:r>
              <a:rPr lang="en-US" dirty="0"/>
              <a:t>Decides where data should be sent</a:t>
            </a:r>
          </a:p>
          <a:p>
            <a:r>
              <a:rPr lang="en-US" dirty="0"/>
              <a:t>When You Open a Website?</a:t>
            </a:r>
          </a:p>
          <a:p>
            <a:r>
              <a:rPr lang="en-US" dirty="0"/>
              <a:t>You type </a:t>
            </a:r>
            <a:r>
              <a:rPr lang="en-US" b="1" dirty="0"/>
              <a:t>www.google.com</a:t>
            </a:r>
            <a:r>
              <a:rPr lang="en-US" dirty="0"/>
              <a:t> in your browser.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42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1B3A-2C1A-8003-21B2-8C5418A2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71832-ED94-A34E-289F-FED082131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Device Connects to the Internet</a:t>
            </a:r>
          </a:p>
          <a:p>
            <a:r>
              <a:rPr lang="en-US" dirty="0"/>
              <a:t>Your computer or mobile connects through:</a:t>
            </a:r>
          </a:p>
          <a:p>
            <a:r>
              <a:rPr lang="en-US" dirty="0"/>
              <a:t>Wi-Fi</a:t>
            </a:r>
          </a:p>
          <a:p>
            <a:r>
              <a:rPr lang="en-US" dirty="0"/>
              <a:t>Mobile data</a:t>
            </a:r>
          </a:p>
          <a:p>
            <a:r>
              <a:rPr lang="en-US" dirty="0"/>
              <a:t>Ethernet cable</a:t>
            </a:r>
          </a:p>
          <a:p>
            <a:r>
              <a:rPr lang="en-US" dirty="0"/>
              <a:t>This connection goes to your </a:t>
            </a:r>
            <a:r>
              <a:rPr lang="en-US" b="1" dirty="0"/>
              <a:t>Internet Service Provider (ISP)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52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F91D-9E2C-040B-C76D-21A6E3E1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ACF7A-5A2A-8105-7421-BE898E705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DNS Converts Website Name to IP Address</a:t>
            </a:r>
          </a:p>
          <a:p>
            <a:r>
              <a:rPr lang="en-US" dirty="0"/>
              <a:t>Computers do not understand names like </a:t>
            </a:r>
            <a:r>
              <a:rPr lang="en-US" i="1" dirty="0"/>
              <a:t>google.com</a:t>
            </a:r>
            <a:r>
              <a:rPr lang="en-US" dirty="0"/>
              <a:t>.</a:t>
            </a:r>
          </a:p>
          <a:p>
            <a:r>
              <a:rPr lang="en-US" dirty="0"/>
              <a:t>So:</a:t>
            </a:r>
          </a:p>
          <a:p>
            <a:r>
              <a:rPr lang="en-US" dirty="0"/>
              <a:t>A DNS server converts the website name into an IP address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www.google.com - 142.250.190.78</a:t>
            </a:r>
          </a:p>
          <a:p>
            <a:r>
              <a:rPr lang="en-US" dirty="0"/>
              <a:t>This is like finding a phone number from a contact name.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5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FD9B-FF32-4137-75F3-C26904CF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EEA65-0B55-4794-733B-5C8F941E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Browser Sends a Request to the Server</a:t>
            </a:r>
          </a:p>
          <a:p>
            <a:r>
              <a:rPr lang="en-US" dirty="0"/>
              <a:t>Your browser sends an </a:t>
            </a:r>
            <a:r>
              <a:rPr lang="en-US" b="1" dirty="0"/>
              <a:t>HTTP/HTTPS request</a:t>
            </a:r>
            <a:r>
              <a:rPr lang="en-US" dirty="0"/>
              <a:t> saying:</a:t>
            </a:r>
          </a:p>
          <a:p>
            <a:r>
              <a:rPr lang="en-US" dirty="0"/>
              <a:t>“Please send me the Google homepage.”</a:t>
            </a:r>
          </a:p>
          <a:p>
            <a:r>
              <a:rPr lang="en-US" dirty="0"/>
              <a:t>This request travels through:</a:t>
            </a:r>
          </a:p>
          <a:p>
            <a:r>
              <a:rPr lang="en-US" dirty="0"/>
              <a:t>Routers</a:t>
            </a:r>
          </a:p>
          <a:p>
            <a:r>
              <a:rPr lang="en-US" dirty="0"/>
              <a:t>Internet cables</a:t>
            </a:r>
          </a:p>
          <a:p>
            <a:r>
              <a:rPr lang="en-US" dirty="0"/>
              <a:t>Data centers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57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43DA-DF26-84F2-3776-BA508C00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A5D05-4F1F-D174-EEBA-0E0D73B64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4: Server Processes the Request</a:t>
            </a:r>
          </a:p>
          <a:p>
            <a:r>
              <a:rPr lang="en-US" dirty="0"/>
              <a:t>The </a:t>
            </a:r>
            <a:r>
              <a:rPr lang="en-US" b="1" dirty="0"/>
              <a:t>server</a:t>
            </a:r>
            <a:r>
              <a:rPr lang="en-US" dirty="0"/>
              <a:t> (a powerful computer):</a:t>
            </a:r>
          </a:p>
          <a:p>
            <a:r>
              <a:rPr lang="en-US" dirty="0"/>
              <a:t>Receives your request</a:t>
            </a:r>
          </a:p>
          <a:p>
            <a:r>
              <a:rPr lang="en-US" dirty="0"/>
              <a:t>Finds the required files:</a:t>
            </a:r>
          </a:p>
          <a:p>
            <a:pPr lvl="1"/>
            <a:r>
              <a:rPr lang="en-US" dirty="0"/>
              <a:t>HTML (structure)</a:t>
            </a:r>
          </a:p>
          <a:p>
            <a:pPr lvl="1"/>
            <a:r>
              <a:rPr lang="en-US" dirty="0"/>
              <a:t>CSS (design)</a:t>
            </a:r>
          </a:p>
          <a:p>
            <a:pPr lvl="1"/>
            <a:r>
              <a:rPr lang="en-US" dirty="0"/>
              <a:t>JavaScript (functionality)</a:t>
            </a:r>
          </a:p>
          <a:p>
            <a:pPr lvl="1"/>
            <a:r>
              <a:rPr lang="en-US" dirty="0"/>
              <a:t>Images and videos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07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4728-7822-E9F1-D72B-C7ECC3CA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87046-879A-69E1-01BF-4EEC8CCA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5: Server Sends the Web Page Back</a:t>
            </a:r>
          </a:p>
          <a:p>
            <a:r>
              <a:rPr lang="en-US" dirty="0"/>
              <a:t>The server sends the data back in small packets using TCP/IP.</a:t>
            </a:r>
          </a:p>
          <a:p>
            <a:r>
              <a:rPr lang="en-US" dirty="0"/>
              <a:t>TCP:</a:t>
            </a:r>
          </a:p>
          <a:p>
            <a:r>
              <a:rPr lang="en-US" dirty="0"/>
              <a:t>Checks all packets arrive</a:t>
            </a:r>
          </a:p>
          <a:p>
            <a:r>
              <a:rPr lang="en-US" dirty="0"/>
              <a:t>Fixes missing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07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B0E9-9A0D-ECD1-9298-19C04B24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FEA1-215C-30DD-1374-600763A92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6: Browser Displays the Web Page</a:t>
            </a:r>
          </a:p>
          <a:p>
            <a:r>
              <a:rPr lang="en-US" dirty="0"/>
              <a:t>Your browser:</a:t>
            </a:r>
          </a:p>
          <a:p>
            <a:r>
              <a:rPr lang="en-US" dirty="0"/>
              <a:t>Combines all received data</a:t>
            </a:r>
          </a:p>
          <a:p>
            <a:r>
              <a:rPr lang="en-US" dirty="0"/>
              <a:t>Reads HTML, CSS, and JavaScript</a:t>
            </a:r>
          </a:p>
          <a:p>
            <a:r>
              <a:rPr lang="en-US" dirty="0"/>
              <a:t>Displays the final web page on your screen</a:t>
            </a:r>
          </a:p>
          <a:p>
            <a:r>
              <a:rPr lang="en-US" dirty="0"/>
              <a:t> You see the website!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44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EBB6-1176-B04C-F5A4-420DDA4B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web?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96E2-B4E6-DF6D-C28D-9F1BDF889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World Wide Web (WWW)</a:t>
            </a:r>
            <a:r>
              <a:rPr lang="en-US" dirty="0"/>
              <a:t> is a </a:t>
            </a:r>
            <a:r>
              <a:rPr lang="en-US" b="1" dirty="0"/>
              <a:t>service running on the Internet</a:t>
            </a:r>
            <a:r>
              <a:rPr lang="en-US" dirty="0"/>
              <a:t> that allows users to access </a:t>
            </a:r>
            <a:r>
              <a:rPr lang="en-US" b="1" dirty="0"/>
              <a:t>web pages</a:t>
            </a:r>
            <a:r>
              <a:rPr lang="en-US" dirty="0"/>
              <a:t> using browsers (Chrome, Edge, Safari).</a:t>
            </a:r>
          </a:p>
          <a:p>
            <a:r>
              <a:rPr lang="en-US" dirty="0"/>
              <a:t>Internet = </a:t>
            </a:r>
            <a:r>
              <a:rPr lang="en-US" b="1" dirty="0"/>
              <a:t>Road network</a:t>
            </a:r>
            <a:endParaRPr lang="en-US" dirty="0"/>
          </a:p>
          <a:p>
            <a:r>
              <a:rPr lang="en-US" dirty="0"/>
              <a:t>Web = </a:t>
            </a:r>
            <a:r>
              <a:rPr lang="en-US" b="1" dirty="0"/>
              <a:t>Cars and services running on the roads</a:t>
            </a:r>
            <a:endParaRPr lang="en-US" dirty="0"/>
          </a:p>
          <a:p>
            <a:r>
              <a:rPr lang="en-US" dirty="0"/>
              <a:t>Web architecture is mainly based on the </a:t>
            </a:r>
            <a:r>
              <a:rPr lang="en-US" b="1" dirty="0"/>
              <a:t>Client–Server Model</a:t>
            </a:r>
            <a:r>
              <a:rPr lang="en-US" dirty="0"/>
              <a:t>:</a:t>
            </a:r>
          </a:p>
          <a:p>
            <a:r>
              <a:rPr lang="en-US" b="1" dirty="0"/>
              <a:t>a) Client</a:t>
            </a:r>
          </a:p>
          <a:p>
            <a:r>
              <a:rPr lang="en-US" dirty="0"/>
              <a:t>User’s device (browser)</a:t>
            </a:r>
          </a:p>
          <a:p>
            <a:r>
              <a:rPr lang="en-US" dirty="0"/>
              <a:t>Requests web pages</a:t>
            </a:r>
          </a:p>
          <a:p>
            <a:r>
              <a:rPr lang="en-US" dirty="0"/>
              <a:t>Example: Chrome, Firefox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87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FEF6-8E46-A0FB-CA0D-6266B6839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C135-6FD6-BA6C-8DC3-098ABC90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b) Server</a:t>
            </a:r>
          </a:p>
          <a:p>
            <a:r>
              <a:rPr lang="en-US" dirty="0"/>
              <a:t>Powerful computer that stores websites</a:t>
            </a:r>
          </a:p>
          <a:p>
            <a:r>
              <a:rPr lang="en-US" dirty="0"/>
              <a:t>Sends data to clients</a:t>
            </a:r>
          </a:p>
          <a:p>
            <a:r>
              <a:rPr lang="en-US" dirty="0"/>
              <a:t>Example: Google server, Amazon server</a:t>
            </a:r>
          </a:p>
          <a:p>
            <a:r>
              <a:rPr lang="en-US" b="1" dirty="0"/>
              <a:t>c) Request–Response Cycle</a:t>
            </a:r>
          </a:p>
          <a:p>
            <a:r>
              <a:rPr lang="en-US" dirty="0"/>
              <a:t>User types a URL</a:t>
            </a:r>
          </a:p>
          <a:p>
            <a:r>
              <a:rPr lang="en-US" dirty="0"/>
              <a:t>Browser sends a request</a:t>
            </a:r>
          </a:p>
          <a:p>
            <a:r>
              <a:rPr lang="en-US" dirty="0"/>
              <a:t>Server processes it</a:t>
            </a:r>
          </a:p>
          <a:p>
            <a:r>
              <a:rPr lang="en-US" dirty="0"/>
              <a:t>Server sends back HTML, CSS, images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105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D310-6889-B7B3-8261-CD3E56D5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7B76-A69E-3CBB-B351-AEE4F452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architecture defines how different parts of an application are structured and communicate with each other.</a:t>
            </a:r>
          </a:p>
          <a:p>
            <a:r>
              <a:rPr lang="en-US" dirty="0"/>
              <a:t>It explains:</a:t>
            </a:r>
          </a:p>
          <a:p>
            <a:r>
              <a:rPr lang="en-US" dirty="0"/>
              <a:t>Where UI runs</a:t>
            </a:r>
          </a:p>
          <a:p>
            <a:r>
              <a:rPr lang="en-US" dirty="0"/>
              <a:t>Where logic runs</a:t>
            </a:r>
          </a:p>
          <a:p>
            <a:r>
              <a:rPr lang="en-US" dirty="0"/>
              <a:t>Where data is stored</a:t>
            </a:r>
          </a:p>
          <a:p>
            <a:r>
              <a:rPr lang="en-US" dirty="0"/>
              <a:t>How everything connects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91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B59D-32F1-29BC-1462-B5AA929C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2-tier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BC88-8D14-2FB0-A73D-2BB4CD2BA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Client  ↔  Server</a:t>
            </a:r>
          </a:p>
          <a:p>
            <a:r>
              <a:rPr lang="en-US" b="1" dirty="0"/>
              <a:t>Client</a:t>
            </a:r>
            <a:r>
              <a:rPr lang="en-US" dirty="0"/>
              <a:t> - UI + sometimes business logic</a:t>
            </a:r>
          </a:p>
          <a:p>
            <a:r>
              <a:rPr lang="en-US" b="1" dirty="0"/>
              <a:t>Server</a:t>
            </a:r>
            <a:r>
              <a:rPr lang="en-US" dirty="0"/>
              <a:t> - Database + some processing</a:t>
            </a:r>
          </a:p>
          <a:p>
            <a:r>
              <a:rPr lang="en-US" dirty="0"/>
              <a:t>Client directly communicates with the server.</a:t>
            </a:r>
          </a:p>
          <a:p>
            <a:r>
              <a:rPr lang="en-US" dirty="0"/>
              <a:t>Imagine a small clothing shop owner wants:        Add new products</a:t>
            </a:r>
          </a:p>
          <a:p>
            <a:r>
              <a:rPr lang="en-US" dirty="0"/>
              <a:t>Update prices ,  Track stock</a:t>
            </a:r>
          </a:p>
          <a:p>
            <a:r>
              <a:rPr lang="en-US" dirty="0"/>
              <a:t>See daily sales</a:t>
            </a:r>
          </a:p>
          <a:p>
            <a:r>
              <a:rPr lang="en-US" dirty="0"/>
              <a:t>They build:</a:t>
            </a:r>
          </a:p>
          <a:p>
            <a:r>
              <a:rPr lang="en-US" b="1" dirty="0"/>
              <a:t>Frontend:</a:t>
            </a:r>
            <a:r>
              <a:rPr lang="en-US" dirty="0"/>
              <a:t> Flutter mobile app                       </a:t>
            </a:r>
            <a:r>
              <a:rPr lang="en-US" b="1" dirty="0"/>
              <a:t>Backend + Database:</a:t>
            </a:r>
            <a:r>
              <a:rPr lang="en-US" dirty="0"/>
              <a:t> Firebase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65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A5A7-046A-78E1-6608-BB38689A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3-Tier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7C645-11C7-360F-CA1E-EB83D431F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more professional and industry-level architecture.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Presentation Layer</a:t>
            </a:r>
          </a:p>
          <a:p>
            <a:r>
              <a:rPr lang="en-US" dirty="0"/>
              <a:t>Business Logic Layer</a:t>
            </a:r>
          </a:p>
          <a:p>
            <a:r>
              <a:rPr lang="en-US" dirty="0"/>
              <a:t>Database Layer</a:t>
            </a:r>
          </a:p>
        </p:txBody>
      </p:sp>
    </p:spTree>
    <p:extLst>
      <p:ext uri="{BB962C8B-B14F-4D97-AF65-F5344CB8AC3E}">
        <p14:creationId xmlns:p14="http://schemas.microsoft.com/office/powerpoint/2010/main" val="1856879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56CF-D4BE-CBD6-74C8-A7836E3D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1 : presentation layer(frontend)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175D3-4C68-92EF-CEDB-919FDCCDB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This is the </a:t>
            </a:r>
            <a:r>
              <a:rPr lang="en-US" b="1" dirty="0"/>
              <a:t>UI part</a:t>
            </a:r>
            <a:r>
              <a:rPr lang="en-US" dirty="0"/>
              <a:t>. For Examples:</a:t>
            </a:r>
          </a:p>
          <a:p>
            <a:r>
              <a:rPr lang="en-US" dirty="0"/>
              <a:t>React</a:t>
            </a:r>
          </a:p>
          <a:p>
            <a:r>
              <a:rPr lang="en-US" dirty="0"/>
              <a:t>Flutter</a:t>
            </a:r>
          </a:p>
          <a:p>
            <a:r>
              <a:rPr lang="en-US" dirty="0"/>
              <a:t>HTML/CSS/JS</a:t>
            </a:r>
          </a:p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Display data</a:t>
            </a:r>
          </a:p>
          <a:p>
            <a:r>
              <a:rPr lang="en-US" dirty="0"/>
              <a:t>Take user input</a:t>
            </a:r>
          </a:p>
          <a:p>
            <a:r>
              <a:rPr lang="en-US" dirty="0"/>
              <a:t>Send requests to backend</a:t>
            </a:r>
          </a:p>
          <a:p>
            <a:r>
              <a:rPr lang="en-US" dirty="0"/>
              <a:t> Students working in React &amp; Flutter are building this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411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44EB-1F80-A156-5CBA-D8A5A785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2: business logic layer(backend)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59EF-A7F3-831D-16DE-AF95A6DAF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is the </a:t>
            </a:r>
            <a:r>
              <a:rPr lang="en-US" b="1" dirty="0"/>
              <a:t>brain of the application</a:t>
            </a:r>
            <a:r>
              <a:rPr lang="en-US" dirty="0"/>
              <a:t>. For Examples:</a:t>
            </a:r>
          </a:p>
          <a:p>
            <a:r>
              <a:rPr lang="en-US" dirty="0"/>
              <a:t>PHP     Node.js    Java   Python    Laravel</a:t>
            </a:r>
          </a:p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Process requests</a:t>
            </a:r>
          </a:p>
          <a:p>
            <a:r>
              <a:rPr lang="en-US" dirty="0"/>
              <a:t>Apply rules</a:t>
            </a:r>
          </a:p>
          <a:p>
            <a:r>
              <a:rPr lang="en-US" dirty="0"/>
              <a:t>Validate data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API creation</a:t>
            </a:r>
          </a:p>
          <a:p>
            <a:pPr marL="0" indent="0">
              <a:buNone/>
            </a:pPr>
            <a:r>
              <a:rPr lang="en-US" dirty="0"/>
              <a:t>Students using PHP backend are building this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584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3FDB-C861-711B-CCC8-97C97140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3: database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E3550-742D-9577-3118-6734C50B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stores data. For Examples:</a:t>
            </a:r>
          </a:p>
          <a:p>
            <a:r>
              <a:rPr lang="en-US" dirty="0"/>
              <a:t>MySQL    Firebase </a:t>
            </a:r>
            <a:r>
              <a:rPr lang="en-US" dirty="0" err="1"/>
              <a:t>Firestore</a:t>
            </a:r>
            <a:r>
              <a:rPr lang="en-US" dirty="0"/>
              <a:t> MongoDB   PostgreSQL</a:t>
            </a:r>
          </a:p>
          <a:p>
            <a:r>
              <a:rPr lang="en-US" dirty="0"/>
              <a:t>Responsibilities:</a:t>
            </a:r>
          </a:p>
          <a:p>
            <a:r>
              <a:rPr lang="en-US" dirty="0"/>
              <a:t>Store records</a:t>
            </a:r>
          </a:p>
          <a:p>
            <a:r>
              <a:rPr lang="en-US" dirty="0"/>
              <a:t>Retrieve records</a:t>
            </a:r>
          </a:p>
          <a:p>
            <a:r>
              <a:rPr lang="en-US" dirty="0"/>
              <a:t>Manage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66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6CF1-AD20-49C8-1007-08F8D694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domain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BA41-ECE0-AC04-11B2-25376C463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domain name</a:t>
            </a:r>
            <a:r>
              <a:rPr lang="en-US" dirty="0"/>
              <a:t> is the </a:t>
            </a:r>
            <a:r>
              <a:rPr lang="en-US" b="1" dirty="0"/>
              <a:t>address of a website</a:t>
            </a:r>
            <a:r>
              <a:rPr lang="en-US" dirty="0"/>
              <a:t> on the Internet.</a:t>
            </a:r>
          </a:p>
          <a:p>
            <a:pPr marL="0" indent="0">
              <a:buNone/>
            </a:pPr>
            <a:r>
              <a:rPr lang="en-US" dirty="0"/>
              <a:t> Examples:</a:t>
            </a:r>
          </a:p>
          <a:p>
            <a:r>
              <a:rPr lang="en-US" dirty="0"/>
              <a:t>google.com</a:t>
            </a:r>
          </a:p>
          <a:p>
            <a:r>
              <a:rPr lang="en-US" dirty="0"/>
              <a:t>daraz.pk</a:t>
            </a:r>
          </a:p>
          <a:p>
            <a:r>
              <a:rPr lang="en-US" dirty="0"/>
              <a:t>facebook.com</a:t>
            </a:r>
          </a:p>
          <a:p>
            <a:r>
              <a:rPr lang="en-US" dirty="0"/>
              <a:t>Without a domain, users would need to remember </a:t>
            </a:r>
            <a:r>
              <a:rPr lang="en-US" b="1" dirty="0"/>
              <a:t>IP addresses</a:t>
            </a:r>
            <a:r>
              <a:rPr lang="en-US" dirty="0"/>
              <a:t>, which is difficult.</a:t>
            </a:r>
          </a:p>
          <a:p>
            <a:r>
              <a:rPr lang="en-US" dirty="0"/>
              <a:t>Analogy: Domain name = </a:t>
            </a:r>
            <a:r>
              <a:rPr lang="en-US" b="1" dirty="0"/>
              <a:t>Shop name      </a:t>
            </a:r>
            <a:r>
              <a:rPr lang="en-US" dirty="0"/>
              <a:t>IP address = </a:t>
            </a:r>
            <a:r>
              <a:rPr lang="en-US" b="1" dirty="0"/>
              <a:t>Shop location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565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D29C-9003-EA09-F61F-A29DE73F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37F4-FACF-D602-BD42-E46398035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Hosting</a:t>
            </a:r>
            <a:r>
              <a:rPr lang="en-US" dirty="0"/>
              <a:t> is a service that provides </a:t>
            </a:r>
            <a:r>
              <a:rPr lang="en-US" b="1" dirty="0"/>
              <a:t>space on a server</a:t>
            </a:r>
            <a:r>
              <a:rPr lang="en-US" dirty="0"/>
              <a:t> to store website files.</a:t>
            </a:r>
          </a:p>
          <a:p>
            <a:r>
              <a:rPr lang="en-US" dirty="0"/>
              <a:t>Hosting stores:</a:t>
            </a:r>
          </a:p>
          <a:p>
            <a:r>
              <a:rPr lang="en-US" dirty="0"/>
              <a:t>Website pages</a:t>
            </a:r>
          </a:p>
          <a:p>
            <a:r>
              <a:rPr lang="en-US" dirty="0"/>
              <a:t>Images and videos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Example: A clothing brand’s website files are stored on a hosting server so customers can access them 24/7.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96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6FCE-2CA6-A728-76F5-0E3491BB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1BB7D-FAAD-2CEF-012D-00AB65C72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Cloud platforms</a:t>
            </a:r>
            <a:r>
              <a:rPr lang="en-US" dirty="0"/>
              <a:t> provide </a:t>
            </a:r>
            <a:r>
              <a:rPr lang="en-US" b="1" dirty="0"/>
              <a:t>online servers, storage, and services</a:t>
            </a:r>
            <a:r>
              <a:rPr lang="en-US" dirty="0"/>
              <a:t> over the Internet.</a:t>
            </a:r>
          </a:p>
          <a:p>
            <a:r>
              <a:rPr lang="en-US" dirty="0"/>
              <a:t>Popular cloud platforms:</a:t>
            </a:r>
          </a:p>
          <a:p>
            <a:r>
              <a:rPr lang="en-US" dirty="0"/>
              <a:t>Amazon Web Services (AWS)</a:t>
            </a:r>
          </a:p>
          <a:p>
            <a:r>
              <a:rPr lang="en-US" dirty="0"/>
              <a:t>Google Cloud Platform (GCP)</a:t>
            </a:r>
          </a:p>
          <a:p>
            <a:r>
              <a:rPr lang="en-US" dirty="0"/>
              <a:t>Microsoft Azure</a:t>
            </a:r>
          </a:p>
          <a:p>
            <a:r>
              <a:rPr lang="en-US" dirty="0"/>
              <a:t>Benefits:</a:t>
            </a:r>
          </a:p>
          <a:p>
            <a:r>
              <a:rPr lang="en-US" dirty="0"/>
              <a:t>High availability</a:t>
            </a:r>
          </a:p>
          <a:p>
            <a:r>
              <a:rPr lang="en-US" dirty="0"/>
              <a:t>Scalability (handle more users)</a:t>
            </a:r>
          </a:p>
          <a:p>
            <a:r>
              <a:rPr lang="en-US" dirty="0"/>
              <a:t>Cost-effective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20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8892-808C-A477-7F26-2048C4EF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Content Management Systems (CMS)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5409-7C9C-700F-C9EA-88033B31E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Content Management System (CMS) is software that allows users to create, manage, and update websites without coding.</a:t>
            </a:r>
          </a:p>
          <a:p>
            <a:r>
              <a:rPr lang="en-US" dirty="0"/>
              <a:t>No programming required</a:t>
            </a:r>
          </a:p>
          <a:p>
            <a:r>
              <a:rPr lang="en-US" dirty="0"/>
              <a:t>Easy content updates</a:t>
            </a:r>
          </a:p>
          <a:p>
            <a:r>
              <a:rPr lang="en-US" dirty="0"/>
              <a:t>Multiple users can manage content</a:t>
            </a:r>
          </a:p>
          <a:p>
            <a:r>
              <a:rPr lang="en-US" dirty="0"/>
              <a:t>Popular CMS: WordPress (most popular)</a:t>
            </a:r>
          </a:p>
          <a:p>
            <a:r>
              <a:rPr lang="en-US" dirty="0"/>
              <a:t>Shopify (e-commerce)</a:t>
            </a:r>
          </a:p>
          <a:p>
            <a:r>
              <a:rPr lang="en-US" dirty="0"/>
              <a:t>Joomla</a:t>
            </a:r>
          </a:p>
          <a:p>
            <a:r>
              <a:rPr lang="en-US" dirty="0"/>
              <a:t>Wix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860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C3AC-350A-9A6A-865F-1BF50970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Website Deployment?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50B8B-C0DD-1AF0-FF44-D22E8785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Website deployment</a:t>
            </a:r>
            <a:r>
              <a:rPr lang="en-US" dirty="0"/>
              <a:t> means </a:t>
            </a:r>
            <a:r>
              <a:rPr lang="en-US" b="1" dirty="0"/>
              <a:t>making a website live</a:t>
            </a:r>
            <a:r>
              <a:rPr lang="en-US" dirty="0"/>
              <a:t> so users can access it on the Internet.</a:t>
            </a:r>
          </a:p>
          <a:p>
            <a:r>
              <a:rPr lang="en-US" b="1" dirty="0"/>
              <a:t>Step 1: Website Development</a:t>
            </a:r>
          </a:p>
          <a:p>
            <a:r>
              <a:rPr lang="en-US" dirty="0"/>
              <a:t>Create website (HTML, CMS, or framework)</a:t>
            </a:r>
          </a:p>
          <a:p>
            <a:r>
              <a:rPr lang="en-US" dirty="0"/>
              <a:t>Test locally on computer</a:t>
            </a:r>
          </a:p>
          <a:p>
            <a:r>
              <a:rPr lang="en-US" b="1" dirty="0"/>
              <a:t>Step 2: Purchase Domain &amp; Hosting</a:t>
            </a:r>
          </a:p>
          <a:p>
            <a:r>
              <a:rPr lang="en-US" dirty="0"/>
              <a:t>Buy domain name</a:t>
            </a:r>
          </a:p>
          <a:p>
            <a:r>
              <a:rPr lang="en-US" dirty="0"/>
              <a:t>Choose hosting or cloud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841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40F6-76F4-8678-4685-81B03E4D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2CFD3-99CD-89CA-F4DF-3CEC03E12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Upload Website Files</a:t>
            </a:r>
          </a:p>
          <a:p>
            <a:r>
              <a:rPr lang="en-US" dirty="0"/>
              <a:t>Upload via control panel or CMS</a:t>
            </a:r>
          </a:p>
          <a:p>
            <a:r>
              <a:rPr lang="en-US" dirty="0"/>
              <a:t>Connect database if required</a:t>
            </a:r>
          </a:p>
          <a:p>
            <a:r>
              <a:rPr lang="en-US" b="1" dirty="0"/>
              <a:t>Step 4: Domain Configuration</a:t>
            </a:r>
          </a:p>
          <a:p>
            <a:r>
              <a:rPr lang="en-US" dirty="0"/>
              <a:t>Domain configuration means connecting your domain name (e.g., myshop.com) with the server where your website is hosted, so that when users type the domain name, the correct website opens.</a:t>
            </a:r>
          </a:p>
        </p:txBody>
      </p:sp>
    </p:spTree>
    <p:extLst>
      <p:ext uri="{BB962C8B-B14F-4D97-AF65-F5344CB8AC3E}">
        <p14:creationId xmlns:p14="http://schemas.microsoft.com/office/powerpoint/2010/main" val="1971467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7A2F-511A-709F-1C1C-DD8B0BEF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32B6-C439-BBD5-5358-2419BD3D8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5: Go Live</a:t>
            </a:r>
          </a:p>
          <a:p>
            <a:r>
              <a:rPr lang="en-US" dirty="0"/>
              <a:t>Website becomes accessible worldwide</a:t>
            </a:r>
          </a:p>
          <a:p>
            <a:r>
              <a:rPr lang="en-US" dirty="0"/>
              <a:t>Business Example:</a:t>
            </a:r>
            <a:br>
              <a:rPr lang="en-US" dirty="0"/>
            </a:br>
            <a:r>
              <a:rPr lang="en-US" dirty="0"/>
              <a:t>An online store launches its website before marketing campaigns.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3479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708</TotalTime>
  <Words>1098</Words>
  <Application>Microsoft Office PowerPoint</Application>
  <PresentationFormat>Widescreen</PresentationFormat>
  <Paragraphs>190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Gill Sans MT</vt:lpstr>
      <vt:lpstr>Gallery</vt:lpstr>
      <vt:lpstr>PowerPoint Presentation</vt:lpstr>
      <vt:lpstr>Lecture : 03</vt:lpstr>
      <vt:lpstr>What is the internet?</vt:lpstr>
      <vt:lpstr>What are Protocols (TCP/IP)?</vt:lpstr>
      <vt:lpstr>Cont…</vt:lpstr>
      <vt:lpstr>Cont…</vt:lpstr>
      <vt:lpstr>cOnt…</vt:lpstr>
      <vt:lpstr>Cont…</vt:lpstr>
      <vt:lpstr>Cont…</vt:lpstr>
      <vt:lpstr>Cont…</vt:lpstr>
      <vt:lpstr>Cont…</vt:lpstr>
      <vt:lpstr>What is the web?</vt:lpstr>
      <vt:lpstr>Cont…</vt:lpstr>
      <vt:lpstr>web  architecture</vt:lpstr>
      <vt:lpstr>2-tier architecture</vt:lpstr>
      <vt:lpstr>3-Tier architecture</vt:lpstr>
      <vt:lpstr>Layer 1 : presentation layer(frontend)</vt:lpstr>
      <vt:lpstr>Layer 2: business logic layer(backend)</vt:lpstr>
      <vt:lpstr>Layer 3: database layer</vt:lpstr>
      <vt:lpstr>What is domain name?</vt:lpstr>
      <vt:lpstr>Web hoisting</vt:lpstr>
      <vt:lpstr>Cloud platforms</vt:lpstr>
      <vt:lpstr>Introduction to Content Management Systems (CMS)</vt:lpstr>
      <vt:lpstr>What is Website Deployment?</vt:lpstr>
      <vt:lpstr>Cont…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176</cp:revision>
  <dcterms:created xsi:type="dcterms:W3CDTF">2025-09-12T12:30:33Z</dcterms:created>
  <dcterms:modified xsi:type="dcterms:W3CDTF">2026-03-04T03:02:49Z</dcterms:modified>
</cp:coreProperties>
</file>