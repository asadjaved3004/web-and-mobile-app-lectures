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61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4" r:id="rId16"/>
    <p:sldId id="293" r:id="rId17"/>
    <p:sldId id="295" r:id="rId18"/>
    <p:sldId id="296" r:id="rId19"/>
    <p:sldId id="297" r:id="rId20"/>
    <p:sldId id="298" r:id="rId21"/>
    <p:sldId id="29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4BD0D-F377-4BB2-950B-0ABDBF7025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37254-F8D8-44B7-8D96-0638D1688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7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8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6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1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70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69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0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5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62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0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92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01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BB4F6-8B81-41C3-9539-DA183A3106B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8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0388-B079-A389-5EBE-C58E48567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0573A-2BBC-EE84-71B3-8B9EF2758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D68E3-D30D-AA20-48F4-C569A026A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55" y="788918"/>
            <a:ext cx="11132090" cy="370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26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181C-59EE-16DB-00C9-737771AE8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Lecture : 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F6595-6D7A-271E-1DC9-E6C569455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Introduction to E-Commerce Models</a:t>
            </a:r>
          </a:p>
        </p:txBody>
      </p:sp>
    </p:spTree>
    <p:extLst>
      <p:ext uri="{BB962C8B-B14F-4D97-AF65-F5344CB8AC3E}">
        <p14:creationId xmlns:p14="http://schemas.microsoft.com/office/powerpoint/2010/main" val="789811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FE13-FF47-60F3-4FA6-49C63792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e-commerce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250A-185B-E025-2C3D-81E8F772F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E-Commerce</a:t>
            </a:r>
            <a:r>
              <a:rPr lang="en-US" dirty="0"/>
              <a:t> means buying and selling products or services using the internet. Instead of going to a physical shop, everything happens online ordering, payment, and sometimes delivery.</a:t>
            </a:r>
          </a:p>
          <a:p>
            <a:r>
              <a:rPr lang="en-US" dirty="0"/>
              <a:t>Main Types of E-Commerce</a:t>
            </a:r>
          </a:p>
          <a:p>
            <a:r>
              <a:rPr lang="en-US" b="1" dirty="0"/>
              <a:t>1. B2C (Business to Customer)</a:t>
            </a:r>
          </a:p>
          <a:p>
            <a:r>
              <a:rPr lang="en-US" dirty="0"/>
              <a:t>A business sells products or services directly to individual customers.</a:t>
            </a:r>
          </a:p>
          <a:p>
            <a:r>
              <a:rPr lang="en-US" dirty="0"/>
              <a:t>For Example: </a:t>
            </a:r>
            <a:r>
              <a:rPr lang="en-US" dirty="0" err="1"/>
              <a:t>Daraz</a:t>
            </a:r>
            <a:r>
              <a:rPr lang="en-US" dirty="0"/>
              <a:t>, Amazon</a:t>
            </a:r>
          </a:p>
        </p:txBody>
      </p:sp>
    </p:spTree>
    <p:extLst>
      <p:ext uri="{BB962C8B-B14F-4D97-AF65-F5344CB8AC3E}">
        <p14:creationId xmlns:p14="http://schemas.microsoft.com/office/powerpoint/2010/main" val="2385979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1331-5577-C554-1D30-40BCC2AA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7E793-1465-D021-7CB6-E856D3C0F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open </a:t>
            </a:r>
            <a:r>
              <a:rPr lang="en-US" dirty="0" err="1"/>
              <a:t>Daraz</a:t>
            </a:r>
            <a:r>
              <a:rPr lang="en-US" dirty="0"/>
              <a:t>, buy a mobile phone, pay online, and it gets delivered to your house.</a:t>
            </a:r>
          </a:p>
          <a:p>
            <a:r>
              <a:rPr lang="en-US" b="1" dirty="0"/>
              <a:t>How it works:</a:t>
            </a:r>
            <a:endParaRPr lang="en-US" dirty="0"/>
          </a:p>
          <a:p>
            <a:r>
              <a:rPr lang="en-US" dirty="0"/>
              <a:t>Company lists products on a website/app </a:t>
            </a:r>
          </a:p>
          <a:p>
            <a:r>
              <a:rPr lang="en-US" dirty="0"/>
              <a:t>Customer visits, selects items </a:t>
            </a:r>
          </a:p>
          <a:p>
            <a:r>
              <a:rPr lang="en-US" dirty="0"/>
              <a:t>Makes payment online </a:t>
            </a:r>
          </a:p>
          <a:p>
            <a:r>
              <a:rPr lang="en-US" dirty="0"/>
              <a:t>Product is delivered to home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C361-FB84-1701-DEE9-F67E1499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F5FC1-2184-D215-C118-06EF27570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B2B (Business to Business)</a:t>
            </a:r>
          </a:p>
          <a:p>
            <a:r>
              <a:rPr lang="en-US" dirty="0"/>
              <a:t>One business sells products or services to another business.</a:t>
            </a:r>
          </a:p>
          <a:p>
            <a:r>
              <a:rPr lang="en-US" dirty="0"/>
              <a:t>Alibaba (bulk buying platform)</a:t>
            </a:r>
          </a:p>
          <a:p>
            <a:r>
              <a:rPr lang="en-US" dirty="0"/>
              <a:t>A factory buying raw materials from a supplier</a:t>
            </a:r>
          </a:p>
          <a:p>
            <a:r>
              <a:rPr lang="en-US" dirty="0"/>
              <a:t>A clothing brand buys fabric in bulk from a textile supplier through an online platform.</a:t>
            </a:r>
          </a:p>
          <a:p>
            <a:r>
              <a:rPr lang="en-US" dirty="0"/>
              <a:t>Large order quantities </a:t>
            </a:r>
          </a:p>
          <a:p>
            <a:r>
              <a:rPr lang="en-US" dirty="0"/>
              <a:t>Lower prices due to bulk purchase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4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9CBA-5327-639D-5469-B29E2A69F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0B4A3-1F94-E361-EC13-D0A667FCC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3. C2C (Customer to Customer)</a:t>
            </a:r>
          </a:p>
          <a:p>
            <a:r>
              <a:rPr lang="en-US" dirty="0"/>
              <a:t>Customers sell products or services to other customers.</a:t>
            </a:r>
          </a:p>
          <a:p>
            <a:r>
              <a:rPr lang="en-US" dirty="0"/>
              <a:t>A platform connects buyers and sellers</a:t>
            </a:r>
          </a:p>
          <a:p>
            <a:r>
              <a:rPr lang="en-US" dirty="0"/>
              <a:t>Individuals list their products</a:t>
            </a:r>
          </a:p>
          <a:p>
            <a:r>
              <a:rPr lang="en-US" dirty="0"/>
              <a:t>Other individuals purchase them</a:t>
            </a:r>
          </a:p>
          <a:p>
            <a:r>
              <a:rPr lang="en-US" b="1" dirty="0"/>
              <a:t>Example</a:t>
            </a:r>
            <a:r>
              <a:rPr lang="en-US" dirty="0"/>
              <a:t>: You sell your used laptop on OLX, and another person buys it from you.</a:t>
            </a:r>
          </a:p>
          <a:p>
            <a:r>
              <a:rPr lang="en-US" dirty="0"/>
              <a:t>No company involved in selling </a:t>
            </a:r>
          </a:p>
          <a:p>
            <a:r>
              <a:rPr lang="en-US" dirty="0"/>
              <a:t>Mostly used or second-hand items </a:t>
            </a:r>
          </a:p>
          <a:p>
            <a:r>
              <a:rPr lang="en-US" dirty="0"/>
              <a:t>Platform acts as a middleman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360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C3D4A-0A24-E732-5891-933B6A7E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FC49C-C362-8BC6-CCB4-0FFF255B8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C2B (Customer to Business)</a:t>
            </a:r>
          </a:p>
          <a:p>
            <a:r>
              <a:rPr lang="en-US" dirty="0"/>
              <a:t>Individuals (customers) offer products or services to businesses.</a:t>
            </a:r>
          </a:p>
          <a:p>
            <a:r>
              <a:rPr lang="en-US" dirty="0"/>
              <a:t>Customers create value (skills/products)</a:t>
            </a:r>
          </a:p>
          <a:p>
            <a:r>
              <a:rPr lang="en-US" dirty="0"/>
              <a:t>Businesses hire or purchase from them</a:t>
            </a:r>
          </a:p>
          <a:p>
            <a:r>
              <a:rPr lang="en-US" dirty="0"/>
              <a:t>A graphic designer creates a logo and sells it to a company through Fiverr.</a:t>
            </a:r>
          </a:p>
        </p:txBody>
      </p:sp>
    </p:spTree>
    <p:extLst>
      <p:ext uri="{BB962C8B-B14F-4D97-AF65-F5344CB8AC3E}">
        <p14:creationId xmlns:p14="http://schemas.microsoft.com/office/powerpoint/2010/main" val="2834533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A82C-F361-9EAF-7CA9-5262BDCB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an Online Business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675FC-F3A6-E589-D475-96BBBFF8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An online business system is made up of different parts that work together.</a:t>
            </a:r>
          </a:p>
          <a:p>
            <a:r>
              <a:rPr lang="en-US" b="1" dirty="0"/>
              <a:t>Main Components:</a:t>
            </a:r>
          </a:p>
          <a:p>
            <a:r>
              <a:rPr lang="en-US" b="1" dirty="0"/>
              <a:t>Frontend (User Interface)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Website or app users interact with </a:t>
            </a:r>
          </a:p>
          <a:p>
            <a:pPr lvl="1"/>
            <a:r>
              <a:rPr lang="en-US" dirty="0"/>
              <a:t>Example: Product pages, cart </a:t>
            </a:r>
          </a:p>
          <a:p>
            <a:r>
              <a:rPr lang="en-US" b="1" dirty="0"/>
              <a:t>Backend (Server &amp; Logic)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Handles data, orders, users </a:t>
            </a:r>
          </a:p>
          <a:p>
            <a:pPr lvl="1"/>
            <a:r>
              <a:rPr lang="en-US" dirty="0"/>
              <a:t>Works behind the scenes </a:t>
            </a:r>
          </a:p>
          <a:p>
            <a:r>
              <a:rPr lang="en-US" b="1" dirty="0"/>
              <a:t>Database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Stores product info, users, orders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00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FA30-42D8-1920-1E4E-EF3734F0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A1485-4E30-2536-A4DE-FB19BC012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Payment Gateway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Handles online payments securely </a:t>
            </a:r>
          </a:p>
          <a:p>
            <a:r>
              <a:rPr lang="en-US" b="1" dirty="0"/>
              <a:t>Shipping System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Manages delivery and tracking </a:t>
            </a:r>
          </a:p>
          <a:p>
            <a:r>
              <a:rPr lang="en-US" b="1" dirty="0"/>
              <a:t>Admin Panel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Used by business to manage products and orders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33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0E01-8183-257B-603A-65C40683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Payment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ECDEE-1E15-C903-ED6E-A9C16182D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8916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Digital Payment Systems are methods that allow people to pay money online without using cash.</a:t>
            </a:r>
          </a:p>
          <a:p>
            <a:r>
              <a:rPr lang="en-US" dirty="0"/>
              <a:t>You can buy products, pay bills, or send money using your phone or computer.</a:t>
            </a:r>
          </a:p>
          <a:p>
            <a:r>
              <a:rPr lang="en-US" b="1" dirty="0"/>
              <a:t>Types of Payment Methods</a:t>
            </a:r>
          </a:p>
          <a:p>
            <a:r>
              <a:rPr lang="en-US" b="1" dirty="0"/>
              <a:t>1. Credit / Debit Cards</a:t>
            </a:r>
          </a:p>
          <a:p>
            <a:r>
              <a:rPr lang="en-US" b="1" dirty="0"/>
              <a:t>Debit Card:</a:t>
            </a:r>
            <a:r>
              <a:rPr lang="en-US" dirty="0"/>
              <a:t> Money is deducted directly from your bank account </a:t>
            </a:r>
          </a:p>
          <a:p>
            <a:r>
              <a:rPr lang="en-US" b="1" dirty="0"/>
              <a:t>Credit Card:</a:t>
            </a:r>
            <a:r>
              <a:rPr lang="en-US" dirty="0"/>
              <a:t> You borrow money from the bank and pay later</a:t>
            </a:r>
          </a:p>
          <a:p>
            <a:r>
              <a:rPr lang="en-US" dirty="0"/>
              <a:t>Example: You enter your card number, expiry date, and CVV on a website -payment is completed.</a:t>
            </a:r>
          </a:p>
        </p:txBody>
      </p:sp>
    </p:spTree>
    <p:extLst>
      <p:ext uri="{BB962C8B-B14F-4D97-AF65-F5344CB8AC3E}">
        <p14:creationId xmlns:p14="http://schemas.microsoft.com/office/powerpoint/2010/main" val="912697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D7C7-ECFC-83BC-6FE0-E79C3316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F8D6C-2B52-C634-D2A5-36FE1663C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Mobile Wallets</a:t>
            </a:r>
          </a:p>
          <a:p>
            <a:r>
              <a:rPr lang="en-US" dirty="0"/>
              <a:t>Apps that store your money digitally and allow quick payments using your phone.</a:t>
            </a:r>
          </a:p>
          <a:p>
            <a:r>
              <a:rPr lang="en-US" dirty="0"/>
              <a:t>You open </a:t>
            </a:r>
            <a:r>
              <a:rPr lang="en-US" dirty="0" err="1"/>
              <a:t>Easypaisa</a:t>
            </a:r>
            <a:r>
              <a:rPr lang="en-US" dirty="0"/>
              <a:t> - scan QR code or enter number - send money instantly.</a:t>
            </a:r>
          </a:p>
          <a:p>
            <a:r>
              <a:rPr lang="en-US" dirty="0"/>
              <a:t>Very easy to use</a:t>
            </a:r>
          </a:p>
          <a:p>
            <a:r>
              <a:rPr lang="en-US" dirty="0"/>
              <a:t>No need for a bank card</a:t>
            </a:r>
          </a:p>
          <a:p>
            <a:r>
              <a:rPr lang="en-US" dirty="0"/>
              <a:t>Popular for small payments and transfers</a:t>
            </a:r>
          </a:p>
          <a:p>
            <a:r>
              <a:rPr lang="en-US" dirty="0"/>
              <a:t>Works even in remote areas</a:t>
            </a:r>
          </a:p>
        </p:txBody>
      </p:sp>
    </p:spTree>
    <p:extLst>
      <p:ext uri="{BB962C8B-B14F-4D97-AF65-F5344CB8AC3E}">
        <p14:creationId xmlns:p14="http://schemas.microsoft.com/office/powerpoint/2010/main" val="370520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E7A39-BBC8-52D9-538A-D82B45B8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34DE-F8F7-B9C5-FA05-5B299508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3. Bank Transfers</a:t>
            </a:r>
          </a:p>
          <a:p>
            <a:r>
              <a:rPr lang="en-US" dirty="0"/>
              <a:t>Direct transfer of money from one bank account to another.</a:t>
            </a:r>
          </a:p>
          <a:p>
            <a:r>
              <a:rPr lang="en-US" dirty="0"/>
              <a:t>Enter account number or IBAN </a:t>
            </a:r>
          </a:p>
          <a:p>
            <a:r>
              <a:rPr lang="en-US" dirty="0"/>
              <a:t>Confirm payment </a:t>
            </a:r>
          </a:p>
          <a:p>
            <a:r>
              <a:rPr lang="en-US" dirty="0"/>
              <a:t>Money moves from your account to seller’s account </a:t>
            </a:r>
          </a:p>
          <a:p>
            <a:r>
              <a:rPr lang="en-US" dirty="0"/>
              <a:t>You transfer fee or payment using your bank app.</a:t>
            </a:r>
          </a:p>
          <a:p>
            <a:r>
              <a:rPr lang="en-US" dirty="0"/>
              <a:t>Safe and reliable </a:t>
            </a:r>
          </a:p>
          <a:p>
            <a:r>
              <a:rPr lang="en-US" dirty="0"/>
              <a:t>Used for large payments </a:t>
            </a:r>
          </a:p>
          <a:p>
            <a:r>
              <a:rPr lang="en-US" dirty="0"/>
              <a:t>May take some time (instant or few hours)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759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0CBA1-C89F-182A-1012-29A72723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C3BD5-F61B-379A-B250-EE9A96304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Cash on Delivery (COD)</a:t>
            </a:r>
          </a:p>
          <a:p>
            <a:r>
              <a:rPr lang="en-US" dirty="0"/>
              <a:t>You order online but pay </a:t>
            </a:r>
            <a:r>
              <a:rPr lang="en-US" b="1" dirty="0"/>
              <a:t>cash when the product is delivered</a:t>
            </a:r>
            <a:r>
              <a:rPr lang="en-US" dirty="0"/>
              <a:t>.</a:t>
            </a:r>
          </a:p>
          <a:p>
            <a:r>
              <a:rPr lang="en-US" dirty="0"/>
              <a:t>You order from </a:t>
            </a:r>
            <a:r>
              <a:rPr lang="en-US" dirty="0" err="1"/>
              <a:t>Daraz</a:t>
            </a:r>
            <a:r>
              <a:rPr lang="en-US" dirty="0"/>
              <a:t> - delivery boy comes - you pay cash.</a:t>
            </a:r>
          </a:p>
          <a:p>
            <a:r>
              <a:rPr lang="en-US" dirty="0"/>
              <a:t>No online payment needed </a:t>
            </a:r>
          </a:p>
          <a:p>
            <a:r>
              <a:rPr lang="en-US" dirty="0"/>
              <a:t>Very popular in Pakistan </a:t>
            </a:r>
          </a:p>
          <a:p>
            <a:r>
              <a:rPr lang="en-US" dirty="0"/>
              <a:t>Safer for users who don’t trust online payments </a:t>
            </a:r>
          </a:p>
          <a:p>
            <a:r>
              <a:rPr lang="en-US" dirty="0"/>
              <a:t>Slower process for businesses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11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4BFFB-DB36-F15B-612A-37BE29F0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Management &amp; Customer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955A-83D9-BDC1-4FA7-B16F0550E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an online order is handled step-by-step and how businesses communicate with customers during the process.</a:t>
            </a:r>
          </a:p>
          <a:p>
            <a:r>
              <a:rPr lang="en-US" dirty="0"/>
              <a:t>It is very important because it affects:</a:t>
            </a:r>
          </a:p>
          <a:p>
            <a:r>
              <a:rPr lang="en-US" dirty="0"/>
              <a:t>Customer satisfaction </a:t>
            </a:r>
          </a:p>
          <a:p>
            <a:r>
              <a:rPr lang="en-US" dirty="0"/>
              <a:t>Trust in the business </a:t>
            </a:r>
          </a:p>
          <a:p>
            <a:r>
              <a:rPr lang="en-US" dirty="0"/>
              <a:t>Repeat purchases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935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2B67-01E3-68A4-3BE2-CED9FEC94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1A2A9-46BF-57BE-2F5D-400BDD6A0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management ensures smooth delivery process</a:t>
            </a:r>
          </a:p>
          <a:p>
            <a:r>
              <a:rPr lang="en-US" dirty="0"/>
              <a:t>Communication builds customer trust</a:t>
            </a:r>
          </a:p>
          <a:p>
            <a:r>
              <a:rPr lang="en-US" dirty="0"/>
              <a:t>Real-time updates reduce confusion</a:t>
            </a:r>
          </a:p>
          <a:p>
            <a:r>
              <a:rPr lang="en-US" dirty="0"/>
              <a:t>Good support increases 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831892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F6B3-4438-C299-E06C-E00CBD868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C2C79-6C58-DBD8-6AC0-87ABE402E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order a mobile from </a:t>
            </a:r>
            <a:r>
              <a:rPr lang="en-US" dirty="0" err="1"/>
              <a:t>Daraz</a:t>
            </a:r>
            <a:r>
              <a:rPr lang="en-US" dirty="0"/>
              <a:t> </a:t>
            </a:r>
          </a:p>
          <a:p>
            <a:r>
              <a:rPr lang="en-US" dirty="0"/>
              <a:t>You receive confirmation SMS </a:t>
            </a:r>
          </a:p>
          <a:p>
            <a:r>
              <a:rPr lang="en-US" dirty="0"/>
              <a:t>Seller packs the mobile </a:t>
            </a:r>
          </a:p>
          <a:p>
            <a:r>
              <a:rPr lang="en-US" dirty="0"/>
              <a:t>Courier (TCS) picks it up </a:t>
            </a:r>
          </a:p>
          <a:p>
            <a:r>
              <a:rPr lang="en-US" dirty="0"/>
              <a:t>You receive tracking updates </a:t>
            </a:r>
          </a:p>
          <a:p>
            <a:r>
              <a:rPr lang="en-US" dirty="0"/>
              <a:t>Parcel arrives at your home </a:t>
            </a:r>
          </a:p>
          <a:p>
            <a:r>
              <a:rPr lang="en-US" dirty="0"/>
              <a:t>You pay (if COD) </a:t>
            </a:r>
          </a:p>
          <a:p>
            <a:r>
              <a:rPr lang="en-US" dirty="0"/>
              <a:t>You leave a 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750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A448-4774-6B91-1E3C-3150F838E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Basics for Online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54607-7DB9-5D4D-D4C6-7A73E015D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Security is very important to protect user data and payments.</a:t>
            </a:r>
          </a:p>
          <a:p>
            <a:r>
              <a:rPr lang="en-US" dirty="0"/>
              <a:t>These methods help </a:t>
            </a:r>
            <a:r>
              <a:rPr lang="en-US" b="1" dirty="0"/>
              <a:t>protect users, payments, and websites</a:t>
            </a:r>
            <a:r>
              <a:rPr lang="en-US" dirty="0"/>
              <a:t> from hackers and fraud.</a:t>
            </a:r>
          </a:p>
          <a:p>
            <a:r>
              <a:rPr lang="en-US" b="1" dirty="0"/>
              <a:t>1. SSL Certificate (HTTPS)</a:t>
            </a:r>
          </a:p>
          <a:p>
            <a:r>
              <a:rPr lang="en-US" dirty="0"/>
              <a:t>SSL (Secure Sockets Layer) is a security technology that </a:t>
            </a:r>
            <a:r>
              <a:rPr lang="en-US" b="1" dirty="0"/>
              <a:t>protects data sent between your browser and a website</a:t>
            </a:r>
            <a:r>
              <a:rPr lang="en-US" dirty="0"/>
              <a:t>.</a:t>
            </a:r>
          </a:p>
          <a:p>
            <a:r>
              <a:rPr lang="en-US" dirty="0"/>
              <a:t> You can recognize it by:</a:t>
            </a:r>
          </a:p>
          <a:p>
            <a:r>
              <a:rPr lang="en-US" dirty="0"/>
              <a:t> Lock icon in browser </a:t>
            </a:r>
          </a:p>
          <a:p>
            <a:r>
              <a:rPr lang="en-US" dirty="0"/>
              <a:t>URL starts with </a:t>
            </a:r>
            <a:r>
              <a:rPr lang="en-US" b="1" dirty="0"/>
              <a:t>https://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931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71E80-9B46-209F-6102-EF3F0B68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60FC0-C048-55E3-7F25-9A8C2D420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Authentication (Login / OTP)</a:t>
            </a:r>
          </a:p>
          <a:p>
            <a:r>
              <a:rPr lang="en-US" dirty="0"/>
              <a:t>Authentication checks </a:t>
            </a:r>
            <a:r>
              <a:rPr lang="en-US" b="1" dirty="0"/>
              <a:t>“Are you really the correct user?”</a:t>
            </a:r>
            <a:endParaRPr lang="en-US" dirty="0"/>
          </a:p>
          <a:p>
            <a:r>
              <a:rPr lang="en-US" dirty="0"/>
              <a:t>Password login </a:t>
            </a:r>
          </a:p>
          <a:p>
            <a:r>
              <a:rPr lang="en-US" dirty="0"/>
              <a:t>OTP (One-Time Password) </a:t>
            </a:r>
          </a:p>
          <a:p>
            <a:r>
              <a:rPr lang="en-US" dirty="0"/>
              <a:t>Fingerprint / Face ID</a:t>
            </a:r>
          </a:p>
          <a:p>
            <a:r>
              <a:rPr lang="en-US" dirty="0"/>
              <a:t>Example: Apps like </a:t>
            </a:r>
            <a:r>
              <a:rPr lang="en-US" dirty="0" err="1"/>
              <a:t>Easypaisa</a:t>
            </a:r>
            <a:r>
              <a:rPr lang="en-US" dirty="0"/>
              <a:t> or </a:t>
            </a:r>
            <a:r>
              <a:rPr lang="en-US" dirty="0" err="1"/>
              <a:t>JazzCash</a:t>
            </a:r>
            <a:r>
              <a:rPr lang="en-US" dirty="0"/>
              <a:t> send OTP when you log in or make payment.</a:t>
            </a:r>
          </a:p>
        </p:txBody>
      </p:sp>
    </p:spTree>
    <p:extLst>
      <p:ext uri="{BB962C8B-B14F-4D97-AF65-F5344CB8AC3E}">
        <p14:creationId xmlns:p14="http://schemas.microsoft.com/office/powerpoint/2010/main" val="2769090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64B2-8287-32EE-F0E1-6089D717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C58BC-CC6D-2C29-479D-D319810E5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Data Encryption</a:t>
            </a:r>
          </a:p>
          <a:p>
            <a:r>
              <a:rPr lang="en-US" dirty="0"/>
              <a:t>Encryption converts data into a </a:t>
            </a:r>
            <a:r>
              <a:rPr lang="en-US" b="1" dirty="0"/>
              <a:t>secret code</a:t>
            </a:r>
            <a:r>
              <a:rPr lang="en-US" dirty="0"/>
              <a:t> so no one can understand it.</a:t>
            </a:r>
          </a:p>
          <a:p>
            <a:r>
              <a:rPr lang="en-US" dirty="0"/>
              <a:t>Normal text - Converted into unreadable text </a:t>
            </a:r>
          </a:p>
          <a:p>
            <a:r>
              <a:rPr lang="en-US" dirty="0"/>
              <a:t>Only authorized system can decode it </a:t>
            </a:r>
          </a:p>
          <a:p>
            <a:r>
              <a:rPr lang="en-US" dirty="0"/>
              <a:t> </a:t>
            </a:r>
            <a:r>
              <a:rPr lang="en-US" b="1" dirty="0"/>
              <a:t>Example: </a:t>
            </a:r>
            <a:r>
              <a:rPr lang="en-US" dirty="0"/>
              <a:t>Password “123456” becomes something like: “XyZ@9#%”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458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4359E-32EC-23B2-EBD8-D0F1A53C0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B24A-1A67-C8B3-65A7-3C7289266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Secure Payment Gateway</a:t>
            </a:r>
          </a:p>
          <a:p>
            <a:r>
              <a:rPr lang="en-US" dirty="0"/>
              <a:t>A payment gateway is a secure system that handles online payments safely.</a:t>
            </a:r>
          </a:p>
          <a:p>
            <a:r>
              <a:rPr lang="en-US" dirty="0"/>
              <a:t>Connects website ↔ bank ↔ customer </a:t>
            </a:r>
          </a:p>
          <a:p>
            <a:r>
              <a:rPr lang="en-US" dirty="0"/>
              <a:t>Verifies payment details </a:t>
            </a:r>
          </a:p>
          <a:p>
            <a:r>
              <a:rPr lang="en-US" dirty="0"/>
              <a:t>Detects fraud </a:t>
            </a:r>
          </a:p>
          <a:p>
            <a:r>
              <a:rPr lang="en-US" dirty="0"/>
              <a:t>Example : Stripe and PayPal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399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A9B1-BD00-788A-3505-8E0A1661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2C39-F5E8-502C-528F-3CC6D7236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5. Firewalls &amp; Monitoring</a:t>
            </a:r>
          </a:p>
          <a:p>
            <a:r>
              <a:rPr lang="en-US" dirty="0"/>
              <a:t>Firewalls are systems that block harmful traffic, and monitoring systems watch for suspicious activity.</a:t>
            </a:r>
          </a:p>
          <a:p>
            <a:r>
              <a:rPr lang="en-US" dirty="0"/>
              <a:t> </a:t>
            </a:r>
            <a:r>
              <a:rPr lang="en-US" b="1" dirty="0"/>
              <a:t>Firewall = Security Guard </a:t>
            </a:r>
            <a:endParaRPr lang="en-US" dirty="0"/>
          </a:p>
          <a:p>
            <a:r>
              <a:rPr lang="en-US" dirty="0"/>
              <a:t>Blocks hackers </a:t>
            </a:r>
          </a:p>
          <a:p>
            <a:r>
              <a:rPr lang="en-US" dirty="0"/>
              <a:t>Allows safe traffic </a:t>
            </a:r>
          </a:p>
          <a:p>
            <a:r>
              <a:rPr lang="en-US" dirty="0"/>
              <a:t> </a:t>
            </a:r>
            <a:r>
              <a:rPr lang="en-US" b="1" dirty="0"/>
              <a:t>Monitoring = CCTV Camera </a:t>
            </a:r>
            <a:endParaRPr lang="en-US" dirty="0"/>
          </a:p>
          <a:p>
            <a:r>
              <a:rPr lang="en-US" dirty="0"/>
              <a:t>Tracks system activity </a:t>
            </a:r>
          </a:p>
          <a:p>
            <a:r>
              <a:rPr lang="en-US" dirty="0"/>
              <a:t>Detects unusual behavior </a:t>
            </a:r>
          </a:p>
          <a:p>
            <a:r>
              <a:rPr lang="en-US" dirty="0"/>
              <a:t>Example: If someone tries multiple wrong logins - system blocks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84357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3404</TotalTime>
  <Words>1008</Words>
  <Application>Microsoft Office PowerPoint</Application>
  <PresentationFormat>Widescreen</PresentationFormat>
  <Paragraphs>149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Gill Sans MT</vt:lpstr>
      <vt:lpstr>Gallery</vt:lpstr>
      <vt:lpstr>PowerPoint Presentation</vt:lpstr>
      <vt:lpstr>Lecture : 07</vt:lpstr>
      <vt:lpstr>Introduction to e-commerce models</vt:lpstr>
      <vt:lpstr>Cont…</vt:lpstr>
      <vt:lpstr>Cont…</vt:lpstr>
      <vt:lpstr>Cont…</vt:lpstr>
      <vt:lpstr>Cont…</vt:lpstr>
      <vt:lpstr>Components of an Online Business System</vt:lpstr>
      <vt:lpstr>Cont…</vt:lpstr>
      <vt:lpstr>Digital Payment Systems</vt:lpstr>
      <vt:lpstr>Cont…</vt:lpstr>
      <vt:lpstr>Cont…</vt:lpstr>
      <vt:lpstr>Cont…</vt:lpstr>
      <vt:lpstr>Order Management &amp; Customer Communication</vt:lpstr>
      <vt:lpstr>importance</vt:lpstr>
      <vt:lpstr>Real life example</vt:lpstr>
      <vt:lpstr>Security Basics for Online Transactions</vt:lpstr>
      <vt:lpstr>Cont…</vt:lpstr>
      <vt:lpstr>Cont…</vt:lpstr>
      <vt:lpstr>Cont…</vt:lpstr>
      <vt:lpstr>Cont…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 Javed</dc:creator>
  <cp:lastModifiedBy>Asad Javed</cp:lastModifiedBy>
  <cp:revision>316</cp:revision>
  <dcterms:created xsi:type="dcterms:W3CDTF">2025-09-12T12:30:33Z</dcterms:created>
  <dcterms:modified xsi:type="dcterms:W3CDTF">2026-03-30T02:59:36Z</dcterms:modified>
</cp:coreProperties>
</file>