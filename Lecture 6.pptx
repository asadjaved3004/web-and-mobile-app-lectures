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04BD0D-F377-4BB2-950B-0ABDBF7025C3}"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37254-F8D8-44B7-8D96-0638D1688C68}" type="slidenum">
              <a:rPr lang="en-US" smtClean="0"/>
              <a:t>‹#›</a:t>
            </a:fld>
            <a:endParaRPr lang="en-US"/>
          </a:p>
        </p:txBody>
      </p:sp>
    </p:spTree>
    <p:extLst>
      <p:ext uri="{BB962C8B-B14F-4D97-AF65-F5344CB8AC3E}">
        <p14:creationId xmlns:p14="http://schemas.microsoft.com/office/powerpoint/2010/main" val="488879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3/5/2026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BD5B2FB1-21CF-44EC-BACA-C9E85D237C6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5684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1964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41BB4F6-8B81-41C3-9539-DA183A3106B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53616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41BB4F6-8B81-41C3-9539-DA183A3106B0}"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B2FB1-21CF-44EC-BACA-C9E85D237C6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8701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1BB4F6-8B81-41C3-9539-DA183A3106B0}"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5B2FB1-21CF-44EC-BACA-C9E85D237C6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7469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41BB4F6-8B81-41C3-9539-DA183A3106B0}"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5B2FB1-21CF-44EC-BACA-C9E85D237C6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0206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1BB4F6-8B81-41C3-9539-DA183A3106B0}"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5B2FB1-21CF-44EC-BACA-C9E85D237C61}" type="slidenum">
              <a:rPr lang="en-US" smtClean="0"/>
              <a:t>‹#›</a:t>
            </a:fld>
            <a:endParaRPr lang="en-US"/>
          </a:p>
        </p:txBody>
      </p:sp>
    </p:spTree>
    <p:extLst>
      <p:ext uri="{BB962C8B-B14F-4D97-AF65-F5344CB8AC3E}">
        <p14:creationId xmlns:p14="http://schemas.microsoft.com/office/powerpoint/2010/main" val="2691957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41BB4F6-8B81-41C3-9539-DA183A3106B0}"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5B2FB1-21CF-44EC-BACA-C9E85D237C6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5625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41BB4F6-8B81-41C3-9539-DA183A3106B0}" type="datetimeFigureOut">
              <a:rPr lang="en-US" smtClean="0"/>
              <a:t>3/5/2026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BD5B2FB1-21CF-44EC-BACA-C9E85D237C6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7900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1929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1BB4F6-8B81-41C3-9539-DA183A3106B0}"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5B2FB1-21CF-44EC-BACA-C9E85D237C6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9013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41BB4F6-8B81-41C3-9539-DA183A3106B0}" type="datetimeFigureOut">
              <a:rPr lang="en-US" smtClean="0"/>
              <a:t>3/5/2026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D5B2FB1-21CF-44EC-BACA-C9E85D237C6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56817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0388-B079-A389-5EBE-C58E485673E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E460573A-2BBC-EE84-71B3-8B9EF2758839}"/>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1CCD68E3-D30D-AA20-48F4-C569A026AAB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9955" y="788918"/>
            <a:ext cx="11132090" cy="3704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9265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181C-59EE-16DB-00C9-737771AE8E9C}"/>
              </a:ext>
            </a:extLst>
          </p:cNvPr>
          <p:cNvSpPr>
            <a:spLocks noGrp="1"/>
          </p:cNvSpPr>
          <p:nvPr>
            <p:ph type="ctrTitle"/>
          </p:nvPr>
        </p:nvSpPr>
        <p:spPr/>
        <p:txBody>
          <a:bodyPr>
            <a:normAutofit/>
          </a:bodyPr>
          <a:lstStyle/>
          <a:p>
            <a:r>
              <a:rPr lang="en-US" sz="4000" dirty="0"/>
              <a:t>Lecture : 06</a:t>
            </a:r>
          </a:p>
        </p:txBody>
      </p:sp>
      <p:sp>
        <p:nvSpPr>
          <p:cNvPr id="3" name="Subtitle 2">
            <a:extLst>
              <a:ext uri="{FF2B5EF4-FFF2-40B4-BE49-F238E27FC236}">
                <a16:creationId xmlns:a16="http://schemas.microsoft.com/office/drawing/2014/main" id="{6BCF6595-6D7A-271E-1DC9-E6C569455F07}"/>
              </a:ext>
            </a:extLst>
          </p:cNvPr>
          <p:cNvSpPr>
            <a:spLocks noGrp="1"/>
          </p:cNvSpPr>
          <p:nvPr>
            <p:ph type="subTitle" idx="1"/>
          </p:nvPr>
        </p:nvSpPr>
        <p:spPr/>
        <p:txBody>
          <a:bodyPr>
            <a:normAutofit/>
          </a:bodyPr>
          <a:lstStyle/>
          <a:p>
            <a:r>
              <a:rPr lang="en-US" sz="2400" dirty="0"/>
              <a:t>Web forms and types of Business Data</a:t>
            </a:r>
          </a:p>
        </p:txBody>
      </p:sp>
    </p:spTree>
    <p:extLst>
      <p:ext uri="{BB962C8B-B14F-4D97-AF65-F5344CB8AC3E}">
        <p14:creationId xmlns:p14="http://schemas.microsoft.com/office/powerpoint/2010/main" val="789811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DE141-B89A-B4AA-3024-75AA7B5E42A1}"/>
              </a:ext>
            </a:extLst>
          </p:cNvPr>
          <p:cNvSpPr>
            <a:spLocks noGrp="1"/>
          </p:cNvSpPr>
          <p:nvPr>
            <p:ph type="title"/>
          </p:nvPr>
        </p:nvSpPr>
        <p:spPr/>
        <p:txBody>
          <a:bodyPr/>
          <a:lstStyle/>
          <a:p>
            <a:r>
              <a:rPr lang="en-US" dirty="0"/>
              <a:t>Web forms</a:t>
            </a:r>
          </a:p>
        </p:txBody>
      </p:sp>
      <p:sp>
        <p:nvSpPr>
          <p:cNvPr id="3" name="Content Placeholder 2">
            <a:extLst>
              <a:ext uri="{FF2B5EF4-FFF2-40B4-BE49-F238E27FC236}">
                <a16:creationId xmlns:a16="http://schemas.microsoft.com/office/drawing/2014/main" id="{F943B3B6-16F4-CAFC-D48E-9058E499AEEA}"/>
              </a:ext>
            </a:extLst>
          </p:cNvPr>
          <p:cNvSpPr>
            <a:spLocks noGrp="1"/>
          </p:cNvSpPr>
          <p:nvPr>
            <p:ph idx="1"/>
          </p:nvPr>
        </p:nvSpPr>
        <p:spPr/>
        <p:txBody>
          <a:bodyPr/>
          <a:lstStyle/>
          <a:p>
            <a:r>
              <a:rPr lang="en-US" dirty="0"/>
              <a:t>Web forms are interactive parts of a website where users can enter data and submit it.</a:t>
            </a:r>
          </a:p>
          <a:p>
            <a:r>
              <a:rPr lang="en-US" dirty="0"/>
              <a:t>Think of a feedback form, login form, or registration form.</a:t>
            </a:r>
          </a:p>
          <a:p>
            <a:r>
              <a:rPr lang="en-US" dirty="0"/>
              <a:t>Forms collect information like name, email, phone number, feedback, or orders.</a:t>
            </a:r>
          </a:p>
          <a:p>
            <a:r>
              <a:rPr lang="en-US" b="1" dirty="0"/>
              <a:t>Purpose:</a:t>
            </a:r>
            <a:br>
              <a:rPr lang="en-US" dirty="0"/>
            </a:br>
            <a:r>
              <a:rPr lang="en-US" dirty="0"/>
              <a:t>Web forms are widely used in business applications to collect and manage data from users.</a:t>
            </a:r>
          </a:p>
          <a:p>
            <a:endParaRPr lang="en-US" dirty="0"/>
          </a:p>
        </p:txBody>
      </p:sp>
    </p:spTree>
    <p:extLst>
      <p:ext uri="{BB962C8B-B14F-4D97-AF65-F5344CB8AC3E}">
        <p14:creationId xmlns:p14="http://schemas.microsoft.com/office/powerpoint/2010/main" val="1151238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AB07E-8997-7639-D487-3B0D4F03943C}"/>
              </a:ext>
            </a:extLst>
          </p:cNvPr>
          <p:cNvSpPr>
            <a:spLocks noGrp="1"/>
          </p:cNvSpPr>
          <p:nvPr>
            <p:ph type="title"/>
          </p:nvPr>
        </p:nvSpPr>
        <p:spPr/>
        <p:txBody>
          <a:bodyPr/>
          <a:lstStyle/>
          <a:p>
            <a:r>
              <a:rPr lang="en-US" dirty="0"/>
              <a:t>Real-life Examples of Web Forms in Business</a:t>
            </a:r>
          </a:p>
        </p:txBody>
      </p:sp>
      <p:sp>
        <p:nvSpPr>
          <p:cNvPr id="3" name="Content Placeholder 2">
            <a:extLst>
              <a:ext uri="{FF2B5EF4-FFF2-40B4-BE49-F238E27FC236}">
                <a16:creationId xmlns:a16="http://schemas.microsoft.com/office/drawing/2014/main" id="{C70DBE0A-61B7-6B7B-B8FC-9D0BA3A2D8EE}"/>
              </a:ext>
            </a:extLst>
          </p:cNvPr>
          <p:cNvSpPr>
            <a:spLocks noGrp="1"/>
          </p:cNvSpPr>
          <p:nvPr>
            <p:ph idx="1"/>
          </p:nvPr>
        </p:nvSpPr>
        <p:spPr/>
        <p:txBody>
          <a:bodyPr>
            <a:normAutofit fontScale="85000" lnSpcReduction="20000"/>
          </a:bodyPr>
          <a:lstStyle/>
          <a:p>
            <a:r>
              <a:rPr lang="en-US" b="1" dirty="0"/>
              <a:t>E-commerce Website:</a:t>
            </a:r>
          </a:p>
          <a:p>
            <a:r>
              <a:rPr lang="en-US" dirty="0"/>
              <a:t>Form to collect shipping details (name, address, phone).</a:t>
            </a:r>
          </a:p>
          <a:p>
            <a:r>
              <a:rPr lang="en-US" dirty="0"/>
              <a:t>Example: Amazon checkout form.</a:t>
            </a:r>
          </a:p>
          <a:p>
            <a:r>
              <a:rPr lang="en-US" b="1" dirty="0"/>
              <a:t>Job Application:</a:t>
            </a:r>
          </a:p>
          <a:p>
            <a:r>
              <a:rPr lang="en-US" dirty="0"/>
              <a:t>Collect candidate information (resume, contact details).</a:t>
            </a:r>
          </a:p>
          <a:p>
            <a:r>
              <a:rPr lang="en-US" b="1" dirty="0"/>
              <a:t>Newsletter Signup:</a:t>
            </a:r>
          </a:p>
          <a:p>
            <a:r>
              <a:rPr lang="en-US" dirty="0"/>
              <a:t>Collect email addresses to send updates.</a:t>
            </a:r>
          </a:p>
          <a:p>
            <a:r>
              <a:rPr lang="en-US" b="1" dirty="0"/>
              <a:t>Customer Feedback:</a:t>
            </a:r>
          </a:p>
          <a:p>
            <a:r>
              <a:rPr lang="en-US" dirty="0"/>
              <a:t>Collect ratings and comments to improve services.</a:t>
            </a:r>
          </a:p>
        </p:txBody>
      </p:sp>
    </p:spTree>
    <p:extLst>
      <p:ext uri="{BB962C8B-B14F-4D97-AF65-F5344CB8AC3E}">
        <p14:creationId xmlns:p14="http://schemas.microsoft.com/office/powerpoint/2010/main" val="2022123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AC3-1DC7-9AB8-3293-BF4E7C4CC55B}"/>
              </a:ext>
            </a:extLst>
          </p:cNvPr>
          <p:cNvSpPr>
            <a:spLocks noGrp="1"/>
          </p:cNvSpPr>
          <p:nvPr>
            <p:ph type="title"/>
          </p:nvPr>
        </p:nvSpPr>
        <p:spPr/>
        <p:txBody>
          <a:bodyPr/>
          <a:lstStyle/>
          <a:p>
            <a:r>
              <a:rPr lang="en-US" dirty="0"/>
              <a:t>Customer Data &amp; Business Information Flow</a:t>
            </a:r>
          </a:p>
        </p:txBody>
      </p:sp>
      <p:sp>
        <p:nvSpPr>
          <p:cNvPr id="3" name="Content Placeholder 2">
            <a:extLst>
              <a:ext uri="{FF2B5EF4-FFF2-40B4-BE49-F238E27FC236}">
                <a16:creationId xmlns:a16="http://schemas.microsoft.com/office/drawing/2014/main" id="{917D5070-952B-AD0C-1114-2A74A9BD57D6}"/>
              </a:ext>
            </a:extLst>
          </p:cNvPr>
          <p:cNvSpPr>
            <a:spLocks noGrp="1"/>
          </p:cNvSpPr>
          <p:nvPr>
            <p:ph idx="1"/>
          </p:nvPr>
        </p:nvSpPr>
        <p:spPr/>
        <p:txBody>
          <a:bodyPr/>
          <a:lstStyle/>
          <a:p>
            <a:r>
              <a:rPr lang="en-US" dirty="0"/>
              <a:t>When a user fills out a web form:</a:t>
            </a:r>
          </a:p>
          <a:p>
            <a:r>
              <a:rPr lang="en-US" b="1" dirty="0"/>
              <a:t>Customer enters data</a:t>
            </a:r>
            <a:r>
              <a:rPr lang="en-US" dirty="0"/>
              <a:t> on the website.</a:t>
            </a:r>
          </a:p>
          <a:p>
            <a:r>
              <a:rPr lang="en-US" b="1" dirty="0"/>
              <a:t>Form sends data</a:t>
            </a:r>
            <a:r>
              <a:rPr lang="en-US" dirty="0"/>
              <a:t> to the server.</a:t>
            </a:r>
          </a:p>
          <a:p>
            <a:r>
              <a:rPr lang="en-US" dirty="0"/>
              <a:t>Server </a:t>
            </a:r>
            <a:r>
              <a:rPr lang="en-US" b="1" dirty="0"/>
              <a:t>processes and stores</a:t>
            </a:r>
            <a:r>
              <a:rPr lang="en-US" dirty="0"/>
              <a:t> it in a database.</a:t>
            </a:r>
          </a:p>
          <a:p>
            <a:r>
              <a:rPr lang="en-US" dirty="0"/>
              <a:t>Business can </a:t>
            </a:r>
            <a:r>
              <a:rPr lang="en-US" b="1" dirty="0"/>
              <a:t>access and use this information</a:t>
            </a:r>
            <a:r>
              <a:rPr lang="en-US" dirty="0"/>
              <a:t> for operations, marketing, or decision-making.</a:t>
            </a:r>
          </a:p>
          <a:p>
            <a:endParaRPr lang="en-US" dirty="0"/>
          </a:p>
        </p:txBody>
      </p:sp>
    </p:spTree>
    <p:extLst>
      <p:ext uri="{BB962C8B-B14F-4D97-AF65-F5344CB8AC3E}">
        <p14:creationId xmlns:p14="http://schemas.microsoft.com/office/powerpoint/2010/main" val="4222427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3C554-2DFF-D025-9778-3E0BD635F425}"/>
              </a:ext>
            </a:extLst>
          </p:cNvPr>
          <p:cNvSpPr>
            <a:spLocks noGrp="1"/>
          </p:cNvSpPr>
          <p:nvPr>
            <p:ph type="title"/>
          </p:nvPr>
        </p:nvSpPr>
        <p:spPr/>
        <p:txBody>
          <a:bodyPr/>
          <a:lstStyle/>
          <a:p>
            <a:r>
              <a:rPr lang="en-US" dirty="0"/>
              <a:t>Real-life Flow Example</a:t>
            </a:r>
          </a:p>
        </p:txBody>
      </p:sp>
      <p:sp>
        <p:nvSpPr>
          <p:cNvPr id="3" name="Content Placeholder 2">
            <a:extLst>
              <a:ext uri="{FF2B5EF4-FFF2-40B4-BE49-F238E27FC236}">
                <a16:creationId xmlns:a16="http://schemas.microsoft.com/office/drawing/2014/main" id="{ABB0333C-5DC1-2816-08A9-9572046BCAE0}"/>
              </a:ext>
            </a:extLst>
          </p:cNvPr>
          <p:cNvSpPr>
            <a:spLocks noGrp="1"/>
          </p:cNvSpPr>
          <p:nvPr>
            <p:ph idx="1"/>
          </p:nvPr>
        </p:nvSpPr>
        <p:spPr/>
        <p:txBody>
          <a:bodyPr/>
          <a:lstStyle/>
          <a:p>
            <a:r>
              <a:rPr lang="en-US" dirty="0"/>
              <a:t>E-commerce order form:</a:t>
            </a:r>
          </a:p>
          <a:p>
            <a:r>
              <a:rPr lang="en-US" dirty="0"/>
              <a:t>Step 1: Customer enters name, address, and order details.</a:t>
            </a:r>
          </a:p>
          <a:p>
            <a:r>
              <a:rPr lang="en-US" dirty="0"/>
              <a:t>Step 2: Clicks Submit button.</a:t>
            </a:r>
          </a:p>
          <a:p>
            <a:r>
              <a:rPr lang="en-US" dirty="0"/>
              <a:t>Step 3: Data goes to database.</a:t>
            </a:r>
          </a:p>
          <a:p>
            <a:r>
              <a:rPr lang="en-US" dirty="0"/>
              <a:t>Step 4: Business sees the order and ships the product.</a:t>
            </a:r>
          </a:p>
          <a:p>
            <a:r>
              <a:rPr lang="en-US" dirty="0"/>
              <a:t>This is called business information flow – from customer input → processing → business action.</a:t>
            </a:r>
          </a:p>
          <a:p>
            <a:endParaRPr lang="en-US" dirty="0"/>
          </a:p>
        </p:txBody>
      </p:sp>
    </p:spTree>
    <p:extLst>
      <p:ext uri="{BB962C8B-B14F-4D97-AF65-F5344CB8AC3E}">
        <p14:creationId xmlns:p14="http://schemas.microsoft.com/office/powerpoint/2010/main" val="428765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2BDDB-D677-BE06-1204-3B68C67062F4}"/>
              </a:ext>
            </a:extLst>
          </p:cNvPr>
          <p:cNvSpPr>
            <a:spLocks noGrp="1"/>
          </p:cNvSpPr>
          <p:nvPr>
            <p:ph type="title"/>
          </p:nvPr>
        </p:nvSpPr>
        <p:spPr/>
        <p:txBody>
          <a:bodyPr/>
          <a:lstStyle/>
          <a:p>
            <a:r>
              <a:rPr lang="en-US" dirty="0"/>
              <a:t>Purpose of web forms in business applications</a:t>
            </a:r>
          </a:p>
        </p:txBody>
      </p:sp>
      <p:sp>
        <p:nvSpPr>
          <p:cNvPr id="3" name="Content Placeholder 2">
            <a:extLst>
              <a:ext uri="{FF2B5EF4-FFF2-40B4-BE49-F238E27FC236}">
                <a16:creationId xmlns:a16="http://schemas.microsoft.com/office/drawing/2014/main" id="{7EA37593-0775-C482-CDC7-B32AE17B6D88}"/>
              </a:ext>
            </a:extLst>
          </p:cNvPr>
          <p:cNvSpPr>
            <a:spLocks noGrp="1"/>
          </p:cNvSpPr>
          <p:nvPr>
            <p:ph idx="1"/>
          </p:nvPr>
        </p:nvSpPr>
        <p:spPr/>
        <p:txBody>
          <a:bodyPr/>
          <a:lstStyle/>
          <a:p>
            <a:r>
              <a:rPr lang="en-US" dirty="0"/>
              <a:t>Web forms are used to:</a:t>
            </a:r>
          </a:p>
          <a:p>
            <a:r>
              <a:rPr lang="en-US" b="1" dirty="0"/>
              <a:t>Collect Data</a:t>
            </a:r>
            <a:endParaRPr lang="en-US" dirty="0"/>
          </a:p>
          <a:p>
            <a:pPr lvl="1"/>
            <a:r>
              <a:rPr lang="en-US" dirty="0"/>
              <a:t>Example: Registration form for a webinar collects </a:t>
            </a:r>
            <a:r>
              <a:rPr lang="en-US" b="1" dirty="0"/>
              <a:t>name, email, phone number</a:t>
            </a:r>
            <a:r>
              <a:rPr lang="en-US" dirty="0"/>
              <a:t>.</a:t>
            </a:r>
          </a:p>
          <a:p>
            <a:r>
              <a:rPr lang="en-US" b="1" dirty="0"/>
              <a:t>Automate Business Processes</a:t>
            </a:r>
            <a:endParaRPr lang="en-US" dirty="0"/>
          </a:p>
          <a:p>
            <a:pPr lvl="1"/>
            <a:r>
              <a:rPr lang="en-US" dirty="0"/>
              <a:t>Example: Customer fills </a:t>
            </a:r>
            <a:r>
              <a:rPr lang="en-US" b="1" dirty="0"/>
              <a:t>support request form</a:t>
            </a:r>
            <a:r>
              <a:rPr lang="en-US" dirty="0"/>
              <a:t>, system creates </a:t>
            </a:r>
            <a:r>
              <a:rPr lang="en-US" b="1" dirty="0"/>
              <a:t>ticket automatically</a:t>
            </a:r>
            <a:r>
              <a:rPr lang="en-US" dirty="0"/>
              <a:t>.</a:t>
            </a:r>
          </a:p>
          <a:p>
            <a:r>
              <a:rPr lang="en-US" b="1" dirty="0"/>
              <a:t>Enhance Customer Interaction</a:t>
            </a:r>
            <a:endParaRPr lang="en-US" dirty="0"/>
          </a:p>
          <a:p>
            <a:pPr lvl="1"/>
            <a:r>
              <a:rPr lang="en-US" dirty="0"/>
              <a:t>Example: Feedback forms to improve </a:t>
            </a:r>
            <a:r>
              <a:rPr lang="en-US" b="1" dirty="0"/>
              <a:t>service quality</a:t>
            </a:r>
            <a:r>
              <a:rPr lang="en-US" dirty="0"/>
              <a:t>.</a:t>
            </a:r>
          </a:p>
          <a:p>
            <a:endParaRPr lang="en-US" dirty="0"/>
          </a:p>
        </p:txBody>
      </p:sp>
    </p:spTree>
    <p:extLst>
      <p:ext uri="{BB962C8B-B14F-4D97-AF65-F5344CB8AC3E}">
        <p14:creationId xmlns:p14="http://schemas.microsoft.com/office/powerpoint/2010/main" val="72865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5A31-C22B-2F1E-DAB1-47681CADD0D7}"/>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CE058B33-5027-29DD-6B2A-40B02396CDA9}"/>
              </a:ext>
            </a:extLst>
          </p:cNvPr>
          <p:cNvSpPr>
            <a:spLocks noGrp="1"/>
          </p:cNvSpPr>
          <p:nvPr>
            <p:ph idx="1"/>
          </p:nvPr>
        </p:nvSpPr>
        <p:spPr/>
        <p:txBody>
          <a:bodyPr/>
          <a:lstStyle/>
          <a:p>
            <a:r>
              <a:rPr lang="en-US" b="1" dirty="0"/>
              <a:t>Basic HTML Structure</a:t>
            </a:r>
          </a:p>
          <a:p>
            <a:r>
              <a:rPr lang="en-US" dirty="0"/>
              <a:t>This part creates the </a:t>
            </a:r>
            <a:r>
              <a:rPr lang="en-US" b="1" dirty="0"/>
              <a:t>basic structure of the webpage</a:t>
            </a:r>
            <a:r>
              <a:rPr lang="en-US" dirty="0"/>
              <a:t>.</a:t>
            </a:r>
          </a:p>
          <a:p>
            <a:endParaRPr lang="en-US" dirty="0"/>
          </a:p>
        </p:txBody>
      </p:sp>
      <p:pic>
        <p:nvPicPr>
          <p:cNvPr id="5" name="Picture 4">
            <a:extLst>
              <a:ext uri="{FF2B5EF4-FFF2-40B4-BE49-F238E27FC236}">
                <a16:creationId xmlns:a16="http://schemas.microsoft.com/office/drawing/2014/main" id="{0174E3D4-9C58-EC8E-6E71-A81E0B9BB029}"/>
              </a:ext>
            </a:extLst>
          </p:cNvPr>
          <p:cNvPicPr>
            <a:picLocks noChangeAspect="1"/>
          </p:cNvPicPr>
          <p:nvPr/>
        </p:nvPicPr>
        <p:blipFill>
          <a:blip r:embed="rId2"/>
          <a:stretch>
            <a:fillRect/>
          </a:stretch>
        </p:blipFill>
        <p:spPr>
          <a:xfrm>
            <a:off x="4398577" y="3295436"/>
            <a:ext cx="5465779" cy="2037345"/>
          </a:xfrm>
          <a:prstGeom prst="rect">
            <a:avLst/>
          </a:prstGeom>
        </p:spPr>
      </p:pic>
    </p:spTree>
    <p:extLst>
      <p:ext uri="{BB962C8B-B14F-4D97-AF65-F5344CB8AC3E}">
        <p14:creationId xmlns:p14="http://schemas.microsoft.com/office/powerpoint/2010/main" val="269193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D8DF4-478A-708D-E440-F4CFB5FAE3CB}"/>
              </a:ext>
            </a:extLst>
          </p:cNvPr>
          <p:cNvSpPr>
            <a:spLocks noGrp="1"/>
          </p:cNvSpPr>
          <p:nvPr>
            <p:ph type="title"/>
          </p:nvPr>
        </p:nvSpPr>
        <p:spPr/>
        <p:txBody>
          <a:bodyPr/>
          <a:lstStyle/>
          <a:p>
            <a:r>
              <a:rPr lang="en-US" dirty="0"/>
              <a:t>Form heading</a:t>
            </a:r>
          </a:p>
        </p:txBody>
      </p:sp>
      <p:sp>
        <p:nvSpPr>
          <p:cNvPr id="3" name="Content Placeholder 2">
            <a:extLst>
              <a:ext uri="{FF2B5EF4-FFF2-40B4-BE49-F238E27FC236}">
                <a16:creationId xmlns:a16="http://schemas.microsoft.com/office/drawing/2014/main" id="{357FDC90-DC48-EF43-274A-61AF5FF1A522}"/>
              </a:ext>
            </a:extLst>
          </p:cNvPr>
          <p:cNvSpPr>
            <a:spLocks noGrp="1"/>
          </p:cNvSpPr>
          <p:nvPr>
            <p:ph idx="1"/>
          </p:nvPr>
        </p:nvSpPr>
        <p:spPr/>
        <p:txBody>
          <a:bodyPr/>
          <a:lstStyle/>
          <a:p>
            <a:r>
              <a:rPr lang="en-US" dirty="0"/>
              <a:t>This displays the </a:t>
            </a:r>
            <a:r>
              <a:rPr lang="en-US" b="1" dirty="0"/>
              <a:t>title of the form on the webpage</a:t>
            </a:r>
            <a:r>
              <a:rPr lang="en-US" dirty="0"/>
              <a:t>.</a:t>
            </a:r>
          </a:p>
          <a:p>
            <a:endParaRPr lang="en-US" dirty="0"/>
          </a:p>
          <a:p>
            <a:endParaRPr lang="en-US" dirty="0"/>
          </a:p>
          <a:p>
            <a:endParaRPr lang="en-US" dirty="0"/>
          </a:p>
          <a:p>
            <a:r>
              <a:rPr lang="en-US" dirty="0"/>
              <a:t>&lt;h2&gt; creates a </a:t>
            </a:r>
            <a:r>
              <a:rPr lang="en-US" b="1" dirty="0"/>
              <a:t>heading</a:t>
            </a:r>
            <a:r>
              <a:rPr lang="en-US" dirty="0"/>
              <a:t> to show the purpose of the form.</a:t>
            </a:r>
          </a:p>
          <a:p>
            <a:endParaRPr lang="en-US" dirty="0"/>
          </a:p>
        </p:txBody>
      </p:sp>
      <p:pic>
        <p:nvPicPr>
          <p:cNvPr id="5" name="Picture 4">
            <a:extLst>
              <a:ext uri="{FF2B5EF4-FFF2-40B4-BE49-F238E27FC236}">
                <a16:creationId xmlns:a16="http://schemas.microsoft.com/office/drawing/2014/main" id="{85B2FBEA-CD1F-7250-A4B6-3F0733B0229D}"/>
              </a:ext>
            </a:extLst>
          </p:cNvPr>
          <p:cNvPicPr>
            <a:picLocks noChangeAspect="1"/>
          </p:cNvPicPr>
          <p:nvPr/>
        </p:nvPicPr>
        <p:blipFill>
          <a:blip r:embed="rId2"/>
          <a:stretch>
            <a:fillRect/>
          </a:stretch>
        </p:blipFill>
        <p:spPr>
          <a:xfrm>
            <a:off x="4180881" y="2661008"/>
            <a:ext cx="5748704" cy="941878"/>
          </a:xfrm>
          <a:prstGeom prst="rect">
            <a:avLst/>
          </a:prstGeom>
        </p:spPr>
      </p:pic>
    </p:spTree>
    <p:extLst>
      <p:ext uri="{BB962C8B-B14F-4D97-AF65-F5344CB8AC3E}">
        <p14:creationId xmlns:p14="http://schemas.microsoft.com/office/powerpoint/2010/main" val="91719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CB71-5083-418C-1749-096562E74902}"/>
              </a:ext>
            </a:extLst>
          </p:cNvPr>
          <p:cNvSpPr>
            <a:spLocks noGrp="1"/>
          </p:cNvSpPr>
          <p:nvPr>
            <p:ph type="title"/>
          </p:nvPr>
        </p:nvSpPr>
        <p:spPr/>
        <p:txBody>
          <a:bodyPr/>
          <a:lstStyle/>
          <a:p>
            <a:r>
              <a:rPr lang="en-US" dirty="0"/>
              <a:t>Creating the Form Container</a:t>
            </a:r>
            <a:br>
              <a:rPr lang="en-US" dirty="0"/>
            </a:br>
            <a:endParaRPr lang="en-US" dirty="0"/>
          </a:p>
        </p:txBody>
      </p:sp>
      <p:sp>
        <p:nvSpPr>
          <p:cNvPr id="3" name="Content Placeholder 2">
            <a:extLst>
              <a:ext uri="{FF2B5EF4-FFF2-40B4-BE49-F238E27FC236}">
                <a16:creationId xmlns:a16="http://schemas.microsoft.com/office/drawing/2014/main" id="{D2CCD18B-327A-AD81-3E9F-93E6B5C11177}"/>
              </a:ext>
            </a:extLst>
          </p:cNvPr>
          <p:cNvSpPr>
            <a:spLocks noGrp="1"/>
          </p:cNvSpPr>
          <p:nvPr>
            <p:ph idx="1"/>
          </p:nvPr>
        </p:nvSpPr>
        <p:spPr/>
        <p:txBody>
          <a:bodyPr/>
          <a:lstStyle/>
          <a:p>
            <a:r>
              <a:rPr lang="en-US" dirty="0"/>
              <a:t>This is the </a:t>
            </a:r>
            <a:r>
              <a:rPr lang="en-US" b="1" dirty="0"/>
              <a:t>main form element</a:t>
            </a:r>
            <a:r>
              <a:rPr lang="en-US" dirty="0"/>
              <a:t> where all input fields will be placed.</a:t>
            </a:r>
          </a:p>
          <a:p>
            <a:r>
              <a:rPr lang="en-US" dirty="0"/>
              <a:t>&lt;form&gt; - container for form fields</a:t>
            </a:r>
          </a:p>
          <a:p>
            <a:r>
              <a:rPr lang="en-US" dirty="0"/>
              <a:t>action - where the data will be sent</a:t>
            </a:r>
          </a:p>
          <a:p>
            <a:r>
              <a:rPr lang="en-US" dirty="0"/>
              <a:t>method="post" - sends form data securely to the server</a:t>
            </a:r>
          </a:p>
          <a:p>
            <a:endParaRPr lang="en-US" dirty="0"/>
          </a:p>
        </p:txBody>
      </p:sp>
      <p:pic>
        <p:nvPicPr>
          <p:cNvPr id="6" name="Picture 5">
            <a:extLst>
              <a:ext uri="{FF2B5EF4-FFF2-40B4-BE49-F238E27FC236}">
                <a16:creationId xmlns:a16="http://schemas.microsoft.com/office/drawing/2014/main" id="{9E211EAA-398E-9502-D46B-A321B49176D7}"/>
              </a:ext>
            </a:extLst>
          </p:cNvPr>
          <p:cNvPicPr>
            <a:picLocks noChangeAspect="1"/>
          </p:cNvPicPr>
          <p:nvPr/>
        </p:nvPicPr>
        <p:blipFill>
          <a:blip r:embed="rId2"/>
          <a:stretch>
            <a:fillRect/>
          </a:stretch>
        </p:blipFill>
        <p:spPr>
          <a:xfrm>
            <a:off x="3953324" y="4345968"/>
            <a:ext cx="7101530" cy="773749"/>
          </a:xfrm>
          <a:prstGeom prst="rect">
            <a:avLst/>
          </a:prstGeom>
        </p:spPr>
      </p:pic>
    </p:spTree>
    <p:extLst>
      <p:ext uri="{BB962C8B-B14F-4D97-AF65-F5344CB8AC3E}">
        <p14:creationId xmlns:p14="http://schemas.microsoft.com/office/powerpoint/2010/main" val="3227612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6B188-FF26-FDEA-9565-5300FD5F48D7}"/>
              </a:ext>
            </a:extLst>
          </p:cNvPr>
          <p:cNvSpPr>
            <a:spLocks noGrp="1"/>
          </p:cNvSpPr>
          <p:nvPr>
            <p:ph type="title"/>
          </p:nvPr>
        </p:nvSpPr>
        <p:spPr/>
        <p:txBody>
          <a:bodyPr/>
          <a:lstStyle/>
          <a:p>
            <a:r>
              <a:rPr lang="en-US" dirty="0"/>
              <a:t>Name input fields</a:t>
            </a:r>
          </a:p>
        </p:txBody>
      </p:sp>
      <p:sp>
        <p:nvSpPr>
          <p:cNvPr id="3" name="Content Placeholder 2">
            <a:extLst>
              <a:ext uri="{FF2B5EF4-FFF2-40B4-BE49-F238E27FC236}">
                <a16:creationId xmlns:a16="http://schemas.microsoft.com/office/drawing/2014/main" id="{ABCB97AB-192F-C547-BFE1-F9F0D5698002}"/>
              </a:ext>
            </a:extLst>
          </p:cNvPr>
          <p:cNvSpPr>
            <a:spLocks noGrp="1"/>
          </p:cNvSpPr>
          <p:nvPr>
            <p:ph idx="1"/>
          </p:nvPr>
        </p:nvSpPr>
        <p:spPr/>
        <p:txBody>
          <a:bodyPr/>
          <a:lstStyle/>
          <a:p>
            <a:r>
              <a:rPr lang="en-US" dirty="0"/>
              <a:t>This allows the </a:t>
            </a:r>
            <a:r>
              <a:rPr lang="en-US" b="1" dirty="0"/>
              <a:t>user to enter their name</a:t>
            </a:r>
            <a:r>
              <a:rPr lang="en-US" dirty="0"/>
              <a:t>.</a:t>
            </a:r>
          </a:p>
          <a:p>
            <a:r>
              <a:rPr lang="en-US" dirty="0"/>
              <a:t>&lt;label&gt; - describes the input field</a:t>
            </a:r>
          </a:p>
          <a:p>
            <a:r>
              <a:rPr lang="en-US" dirty="0"/>
              <a:t>&lt;input type="text"&gt; - text input box</a:t>
            </a:r>
          </a:p>
          <a:p>
            <a:r>
              <a:rPr lang="en-US" dirty="0"/>
              <a:t>required - user must fill the field before submitting</a:t>
            </a:r>
          </a:p>
          <a:p>
            <a:endParaRPr lang="en-US" dirty="0"/>
          </a:p>
        </p:txBody>
      </p:sp>
      <p:pic>
        <p:nvPicPr>
          <p:cNvPr id="5" name="Picture 4">
            <a:extLst>
              <a:ext uri="{FF2B5EF4-FFF2-40B4-BE49-F238E27FC236}">
                <a16:creationId xmlns:a16="http://schemas.microsoft.com/office/drawing/2014/main" id="{64A850B5-257C-8C0B-785F-FFB770CAD7F1}"/>
              </a:ext>
            </a:extLst>
          </p:cNvPr>
          <p:cNvPicPr>
            <a:picLocks noChangeAspect="1"/>
          </p:cNvPicPr>
          <p:nvPr/>
        </p:nvPicPr>
        <p:blipFill>
          <a:blip r:embed="rId2"/>
          <a:stretch>
            <a:fillRect/>
          </a:stretch>
        </p:blipFill>
        <p:spPr>
          <a:xfrm>
            <a:off x="3783914" y="4172308"/>
            <a:ext cx="6171744" cy="788805"/>
          </a:xfrm>
          <a:prstGeom prst="rect">
            <a:avLst/>
          </a:prstGeom>
        </p:spPr>
      </p:pic>
    </p:spTree>
    <p:extLst>
      <p:ext uri="{BB962C8B-B14F-4D97-AF65-F5344CB8AC3E}">
        <p14:creationId xmlns:p14="http://schemas.microsoft.com/office/powerpoint/2010/main" val="2873225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F72E0-BA67-0F1F-BD85-B95DAEC8B5D4}"/>
              </a:ext>
            </a:extLst>
          </p:cNvPr>
          <p:cNvSpPr>
            <a:spLocks noGrp="1"/>
          </p:cNvSpPr>
          <p:nvPr>
            <p:ph type="title"/>
          </p:nvPr>
        </p:nvSpPr>
        <p:spPr/>
        <p:txBody>
          <a:bodyPr/>
          <a:lstStyle/>
          <a:p>
            <a:r>
              <a:rPr lang="en-US" dirty="0"/>
              <a:t>Email input fields</a:t>
            </a:r>
          </a:p>
        </p:txBody>
      </p:sp>
      <p:sp>
        <p:nvSpPr>
          <p:cNvPr id="3" name="Content Placeholder 2">
            <a:extLst>
              <a:ext uri="{FF2B5EF4-FFF2-40B4-BE49-F238E27FC236}">
                <a16:creationId xmlns:a16="http://schemas.microsoft.com/office/drawing/2014/main" id="{E404A952-0C48-D98A-3003-1574C5C50E0E}"/>
              </a:ext>
            </a:extLst>
          </p:cNvPr>
          <p:cNvSpPr>
            <a:spLocks noGrp="1"/>
          </p:cNvSpPr>
          <p:nvPr>
            <p:ph idx="1"/>
          </p:nvPr>
        </p:nvSpPr>
        <p:spPr/>
        <p:txBody>
          <a:bodyPr/>
          <a:lstStyle/>
          <a:p>
            <a:r>
              <a:rPr lang="en-US" dirty="0"/>
              <a:t>This field collects the </a:t>
            </a:r>
            <a:r>
              <a:rPr lang="en-US" b="1" dirty="0"/>
              <a:t>customer's email address</a:t>
            </a:r>
            <a:r>
              <a:rPr lang="en-US" dirty="0"/>
              <a:t>.</a:t>
            </a:r>
          </a:p>
          <a:p>
            <a:r>
              <a:rPr lang="en-US" dirty="0"/>
              <a:t>type="email" ensures the user enters a </a:t>
            </a:r>
            <a:r>
              <a:rPr lang="en-US" b="1" dirty="0"/>
              <a:t>valid email format</a:t>
            </a:r>
          </a:p>
          <a:p>
            <a:endParaRPr lang="en-US" dirty="0"/>
          </a:p>
        </p:txBody>
      </p:sp>
      <p:pic>
        <p:nvPicPr>
          <p:cNvPr id="5" name="Picture 4">
            <a:extLst>
              <a:ext uri="{FF2B5EF4-FFF2-40B4-BE49-F238E27FC236}">
                <a16:creationId xmlns:a16="http://schemas.microsoft.com/office/drawing/2014/main" id="{2BB4EFFA-7B0C-C6AB-9C74-B4BBC2A9A6BF}"/>
              </a:ext>
            </a:extLst>
          </p:cNvPr>
          <p:cNvPicPr>
            <a:picLocks noChangeAspect="1"/>
          </p:cNvPicPr>
          <p:nvPr/>
        </p:nvPicPr>
        <p:blipFill>
          <a:blip r:embed="rId2"/>
          <a:stretch>
            <a:fillRect/>
          </a:stretch>
        </p:blipFill>
        <p:spPr>
          <a:xfrm>
            <a:off x="3318039" y="3429000"/>
            <a:ext cx="6606797" cy="750975"/>
          </a:xfrm>
          <a:prstGeom prst="rect">
            <a:avLst/>
          </a:prstGeom>
        </p:spPr>
      </p:pic>
    </p:spTree>
    <p:extLst>
      <p:ext uri="{BB962C8B-B14F-4D97-AF65-F5344CB8AC3E}">
        <p14:creationId xmlns:p14="http://schemas.microsoft.com/office/powerpoint/2010/main" val="840373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2AE9-531A-E735-F59A-1CC433166693}"/>
              </a:ext>
            </a:extLst>
          </p:cNvPr>
          <p:cNvSpPr>
            <a:spLocks noGrp="1"/>
          </p:cNvSpPr>
          <p:nvPr>
            <p:ph type="title"/>
          </p:nvPr>
        </p:nvSpPr>
        <p:spPr/>
        <p:txBody>
          <a:bodyPr/>
          <a:lstStyle/>
          <a:p>
            <a:r>
              <a:rPr lang="en-US" dirty="0"/>
              <a:t>Rating drop down</a:t>
            </a:r>
          </a:p>
        </p:txBody>
      </p:sp>
      <p:sp>
        <p:nvSpPr>
          <p:cNvPr id="3" name="Content Placeholder 2">
            <a:extLst>
              <a:ext uri="{FF2B5EF4-FFF2-40B4-BE49-F238E27FC236}">
                <a16:creationId xmlns:a16="http://schemas.microsoft.com/office/drawing/2014/main" id="{FA1968D4-86FD-65E1-7C4A-9CF82ACD6079}"/>
              </a:ext>
            </a:extLst>
          </p:cNvPr>
          <p:cNvSpPr>
            <a:spLocks noGrp="1"/>
          </p:cNvSpPr>
          <p:nvPr>
            <p:ph idx="1"/>
          </p:nvPr>
        </p:nvSpPr>
        <p:spPr/>
        <p:txBody>
          <a:bodyPr/>
          <a:lstStyle/>
          <a:p>
            <a:r>
              <a:rPr lang="en-US" dirty="0"/>
              <a:t>&lt;select&gt; - creates a dropdown menu</a:t>
            </a:r>
          </a:p>
          <a:p>
            <a:r>
              <a:rPr lang="en-US" dirty="0"/>
              <a:t>&lt;option&gt; - options inside the dropdown</a:t>
            </a:r>
          </a:p>
          <a:p>
            <a:endParaRPr lang="en-US" dirty="0"/>
          </a:p>
        </p:txBody>
      </p:sp>
      <p:pic>
        <p:nvPicPr>
          <p:cNvPr id="5" name="Picture 4">
            <a:extLst>
              <a:ext uri="{FF2B5EF4-FFF2-40B4-BE49-F238E27FC236}">
                <a16:creationId xmlns:a16="http://schemas.microsoft.com/office/drawing/2014/main" id="{F5647DE5-EB7B-514C-73E0-327C811AD428}"/>
              </a:ext>
            </a:extLst>
          </p:cNvPr>
          <p:cNvPicPr>
            <a:picLocks noChangeAspect="1"/>
          </p:cNvPicPr>
          <p:nvPr/>
        </p:nvPicPr>
        <p:blipFill>
          <a:blip r:embed="rId2"/>
          <a:stretch>
            <a:fillRect/>
          </a:stretch>
        </p:blipFill>
        <p:spPr>
          <a:xfrm>
            <a:off x="4604268" y="3239393"/>
            <a:ext cx="5187004" cy="1927150"/>
          </a:xfrm>
          <a:prstGeom prst="rect">
            <a:avLst/>
          </a:prstGeom>
        </p:spPr>
      </p:pic>
    </p:spTree>
    <p:extLst>
      <p:ext uri="{BB962C8B-B14F-4D97-AF65-F5344CB8AC3E}">
        <p14:creationId xmlns:p14="http://schemas.microsoft.com/office/powerpoint/2010/main" val="381137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4A67-17FE-42C4-40A1-727E7F9299AF}"/>
              </a:ext>
            </a:extLst>
          </p:cNvPr>
          <p:cNvSpPr>
            <a:spLocks noGrp="1"/>
          </p:cNvSpPr>
          <p:nvPr>
            <p:ph type="title"/>
          </p:nvPr>
        </p:nvSpPr>
        <p:spPr/>
        <p:txBody>
          <a:bodyPr/>
          <a:lstStyle/>
          <a:p>
            <a:r>
              <a:rPr lang="en-US" dirty="0"/>
              <a:t>Comments text area</a:t>
            </a:r>
          </a:p>
        </p:txBody>
      </p:sp>
      <p:sp>
        <p:nvSpPr>
          <p:cNvPr id="3" name="Content Placeholder 2">
            <a:extLst>
              <a:ext uri="{FF2B5EF4-FFF2-40B4-BE49-F238E27FC236}">
                <a16:creationId xmlns:a16="http://schemas.microsoft.com/office/drawing/2014/main" id="{01ECD051-1AC7-A897-B77F-8F8B4DEBBCCE}"/>
              </a:ext>
            </a:extLst>
          </p:cNvPr>
          <p:cNvSpPr>
            <a:spLocks noGrp="1"/>
          </p:cNvSpPr>
          <p:nvPr>
            <p:ph idx="1"/>
          </p:nvPr>
        </p:nvSpPr>
        <p:spPr/>
        <p:txBody>
          <a:bodyPr/>
          <a:lstStyle/>
          <a:p>
            <a:r>
              <a:rPr lang="en-US" dirty="0"/>
              <a:t>This allows the user to write </a:t>
            </a:r>
            <a:r>
              <a:rPr lang="en-US" b="1" dirty="0"/>
              <a:t>detailed feedback</a:t>
            </a:r>
            <a:r>
              <a:rPr lang="en-US" dirty="0"/>
              <a:t>.</a:t>
            </a:r>
          </a:p>
          <a:p>
            <a:r>
              <a:rPr lang="en-US" dirty="0"/>
              <a:t>&lt;</a:t>
            </a:r>
            <a:r>
              <a:rPr lang="en-US" dirty="0" err="1"/>
              <a:t>textarea</a:t>
            </a:r>
            <a:r>
              <a:rPr lang="en-US" dirty="0"/>
              <a:t>&gt; allows multi-line text input</a:t>
            </a:r>
          </a:p>
          <a:p>
            <a:r>
              <a:rPr lang="en-US" dirty="0"/>
              <a:t>rows and cols define the size of the text box</a:t>
            </a:r>
          </a:p>
          <a:p>
            <a:endParaRPr lang="en-US" dirty="0"/>
          </a:p>
        </p:txBody>
      </p:sp>
      <p:pic>
        <p:nvPicPr>
          <p:cNvPr id="6" name="Picture 5">
            <a:extLst>
              <a:ext uri="{FF2B5EF4-FFF2-40B4-BE49-F238E27FC236}">
                <a16:creationId xmlns:a16="http://schemas.microsoft.com/office/drawing/2014/main" id="{C08A2B5D-9600-AF9E-D207-22196CDAFE0A}"/>
              </a:ext>
            </a:extLst>
          </p:cNvPr>
          <p:cNvPicPr>
            <a:picLocks noChangeAspect="1"/>
          </p:cNvPicPr>
          <p:nvPr/>
        </p:nvPicPr>
        <p:blipFill>
          <a:blip r:embed="rId2"/>
          <a:stretch>
            <a:fillRect/>
          </a:stretch>
        </p:blipFill>
        <p:spPr>
          <a:xfrm>
            <a:off x="2263238" y="3923023"/>
            <a:ext cx="8319145" cy="844919"/>
          </a:xfrm>
          <a:prstGeom prst="rect">
            <a:avLst/>
          </a:prstGeom>
        </p:spPr>
      </p:pic>
    </p:spTree>
    <p:extLst>
      <p:ext uri="{BB962C8B-B14F-4D97-AF65-F5344CB8AC3E}">
        <p14:creationId xmlns:p14="http://schemas.microsoft.com/office/powerpoint/2010/main" val="988218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A8B23-B69B-6122-3A98-F21C5B2078E7}"/>
              </a:ext>
            </a:extLst>
          </p:cNvPr>
          <p:cNvSpPr>
            <a:spLocks noGrp="1"/>
          </p:cNvSpPr>
          <p:nvPr>
            <p:ph type="title"/>
          </p:nvPr>
        </p:nvSpPr>
        <p:spPr/>
        <p:txBody>
          <a:bodyPr/>
          <a:lstStyle/>
          <a:p>
            <a:r>
              <a:rPr lang="en-US" dirty="0"/>
              <a:t>Submit button</a:t>
            </a:r>
          </a:p>
        </p:txBody>
      </p:sp>
      <p:sp>
        <p:nvSpPr>
          <p:cNvPr id="3" name="Content Placeholder 2">
            <a:extLst>
              <a:ext uri="{FF2B5EF4-FFF2-40B4-BE49-F238E27FC236}">
                <a16:creationId xmlns:a16="http://schemas.microsoft.com/office/drawing/2014/main" id="{3775C8F4-4DE1-4128-2632-5CC1C0CEC31F}"/>
              </a:ext>
            </a:extLst>
          </p:cNvPr>
          <p:cNvSpPr>
            <a:spLocks noGrp="1"/>
          </p:cNvSpPr>
          <p:nvPr>
            <p:ph idx="1"/>
          </p:nvPr>
        </p:nvSpPr>
        <p:spPr/>
        <p:txBody>
          <a:bodyPr/>
          <a:lstStyle/>
          <a:p>
            <a:r>
              <a:rPr lang="en-US" dirty="0"/>
              <a:t>This button </a:t>
            </a:r>
            <a:r>
              <a:rPr lang="en-US" b="1" dirty="0"/>
              <a:t>submits the form data</a:t>
            </a:r>
            <a:r>
              <a:rPr lang="en-US" dirty="0"/>
              <a:t>.</a:t>
            </a:r>
          </a:p>
          <a:p>
            <a:r>
              <a:rPr lang="en-US" dirty="0"/>
              <a:t>&lt;button&gt; creates a clickable button</a:t>
            </a:r>
          </a:p>
          <a:p>
            <a:r>
              <a:rPr lang="en-US" dirty="0"/>
              <a:t>type="submit" sends the form data to the server</a:t>
            </a:r>
          </a:p>
          <a:p>
            <a:endParaRPr lang="en-US" dirty="0"/>
          </a:p>
        </p:txBody>
      </p:sp>
      <p:pic>
        <p:nvPicPr>
          <p:cNvPr id="5" name="Picture 4">
            <a:extLst>
              <a:ext uri="{FF2B5EF4-FFF2-40B4-BE49-F238E27FC236}">
                <a16:creationId xmlns:a16="http://schemas.microsoft.com/office/drawing/2014/main" id="{460ACB5C-A49C-BC75-D52D-2BC6DB3C3079}"/>
              </a:ext>
            </a:extLst>
          </p:cNvPr>
          <p:cNvPicPr>
            <a:picLocks noChangeAspect="1"/>
          </p:cNvPicPr>
          <p:nvPr/>
        </p:nvPicPr>
        <p:blipFill>
          <a:blip r:embed="rId2"/>
          <a:stretch>
            <a:fillRect/>
          </a:stretch>
        </p:blipFill>
        <p:spPr>
          <a:xfrm>
            <a:off x="2567198" y="4130211"/>
            <a:ext cx="8762080" cy="644497"/>
          </a:xfrm>
          <a:prstGeom prst="rect">
            <a:avLst/>
          </a:prstGeom>
        </p:spPr>
      </p:pic>
    </p:spTree>
    <p:extLst>
      <p:ext uri="{BB962C8B-B14F-4D97-AF65-F5344CB8AC3E}">
        <p14:creationId xmlns:p14="http://schemas.microsoft.com/office/powerpoint/2010/main" val="2318817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F820E-C310-01C3-788F-7531B2C00EF1}"/>
              </a:ext>
            </a:extLst>
          </p:cNvPr>
          <p:cNvSpPr>
            <a:spLocks noGrp="1"/>
          </p:cNvSpPr>
          <p:nvPr>
            <p:ph type="title"/>
          </p:nvPr>
        </p:nvSpPr>
        <p:spPr/>
        <p:txBody>
          <a:bodyPr/>
          <a:lstStyle/>
          <a:p>
            <a:r>
              <a:rPr lang="en-US" dirty="0"/>
              <a:t>Types of business data</a:t>
            </a:r>
          </a:p>
        </p:txBody>
      </p:sp>
      <p:sp>
        <p:nvSpPr>
          <p:cNvPr id="3" name="Content Placeholder 2">
            <a:extLst>
              <a:ext uri="{FF2B5EF4-FFF2-40B4-BE49-F238E27FC236}">
                <a16:creationId xmlns:a16="http://schemas.microsoft.com/office/drawing/2014/main" id="{A8DF66B2-4546-C67C-225F-C9456DB1633F}"/>
              </a:ext>
            </a:extLst>
          </p:cNvPr>
          <p:cNvSpPr>
            <a:spLocks noGrp="1"/>
          </p:cNvSpPr>
          <p:nvPr>
            <p:ph idx="1"/>
          </p:nvPr>
        </p:nvSpPr>
        <p:spPr/>
        <p:txBody>
          <a:bodyPr>
            <a:normAutofit fontScale="92500" lnSpcReduction="10000"/>
          </a:bodyPr>
          <a:lstStyle/>
          <a:p>
            <a:r>
              <a:rPr lang="en-US" dirty="0"/>
              <a:t>Business data are important because apps and websites often store and process this information to help businesses operate efficiently.</a:t>
            </a:r>
          </a:p>
          <a:p>
            <a:r>
              <a:rPr lang="en-US" b="1" dirty="0"/>
              <a:t>1. Customer Information</a:t>
            </a:r>
          </a:p>
          <a:p>
            <a:r>
              <a:rPr lang="en-US" dirty="0"/>
              <a:t>This data contains details about the people who use the business’s website or mobile app.</a:t>
            </a:r>
          </a:p>
          <a:p>
            <a:r>
              <a:rPr lang="en-US" b="1" dirty="0"/>
              <a:t>Examples:</a:t>
            </a:r>
            <a:endParaRPr lang="en-US" dirty="0"/>
          </a:p>
          <a:p>
            <a:r>
              <a:rPr lang="en-US" dirty="0"/>
              <a:t>Name    Email address</a:t>
            </a:r>
          </a:p>
          <a:p>
            <a:r>
              <a:rPr lang="en-US" dirty="0"/>
              <a:t>Phone number     Delivery address</a:t>
            </a:r>
          </a:p>
          <a:p>
            <a:r>
              <a:rPr lang="en-US" dirty="0"/>
              <a:t>Login credentials (username/password)       Purchase history</a:t>
            </a:r>
          </a:p>
          <a:p>
            <a:endParaRPr lang="en-US" dirty="0"/>
          </a:p>
        </p:txBody>
      </p:sp>
    </p:spTree>
    <p:extLst>
      <p:ext uri="{BB962C8B-B14F-4D97-AF65-F5344CB8AC3E}">
        <p14:creationId xmlns:p14="http://schemas.microsoft.com/office/powerpoint/2010/main" val="29093953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9249D-A388-7209-4F04-D0057673427C}"/>
              </a:ext>
            </a:extLst>
          </p:cNvPr>
          <p:cNvSpPr>
            <a:spLocks noGrp="1"/>
          </p:cNvSpPr>
          <p:nvPr>
            <p:ph type="title"/>
          </p:nvPr>
        </p:nvSpPr>
        <p:spPr/>
        <p:txBody>
          <a:bodyPr/>
          <a:lstStyle/>
          <a:p>
            <a:r>
              <a:rPr lang="en-US" dirty="0"/>
              <a:t>Why Customer Information is Important in Apps</a:t>
            </a:r>
          </a:p>
        </p:txBody>
      </p:sp>
      <p:sp>
        <p:nvSpPr>
          <p:cNvPr id="3" name="Content Placeholder 2">
            <a:extLst>
              <a:ext uri="{FF2B5EF4-FFF2-40B4-BE49-F238E27FC236}">
                <a16:creationId xmlns:a16="http://schemas.microsoft.com/office/drawing/2014/main" id="{137F3352-352C-1B3D-0C6B-1C1FE590D10D}"/>
              </a:ext>
            </a:extLst>
          </p:cNvPr>
          <p:cNvSpPr>
            <a:spLocks noGrp="1"/>
          </p:cNvSpPr>
          <p:nvPr>
            <p:ph idx="1"/>
          </p:nvPr>
        </p:nvSpPr>
        <p:spPr/>
        <p:txBody>
          <a:bodyPr>
            <a:normAutofit fontScale="92500" lnSpcReduction="20000"/>
          </a:bodyPr>
          <a:lstStyle/>
          <a:p>
            <a:r>
              <a:rPr lang="en-US" b="1" dirty="0"/>
              <a:t>Helps create user accounts</a:t>
            </a:r>
            <a:br>
              <a:rPr lang="en-US" dirty="0"/>
            </a:br>
            <a:r>
              <a:rPr lang="en-US" dirty="0"/>
              <a:t>When people enter their name, email, and password, the app can create their personal account. This lets them log in and use the app anytime.</a:t>
            </a:r>
          </a:p>
          <a:p>
            <a:r>
              <a:rPr lang="en-US" b="1" dirty="0"/>
              <a:t>Enables personalized services</a:t>
            </a:r>
            <a:br>
              <a:rPr lang="en-US" dirty="0"/>
            </a:br>
            <a:r>
              <a:rPr lang="en-US" dirty="0"/>
              <a:t>The app can show things the customer likes. For example, it may suggest products based on what the customer searched or bought before.</a:t>
            </a:r>
          </a:p>
          <a:p>
            <a:r>
              <a:rPr lang="en-US" b="1" dirty="0"/>
              <a:t>Example</a:t>
            </a:r>
          </a:p>
          <a:p>
            <a:r>
              <a:rPr lang="en-US" dirty="0"/>
              <a:t>In an e-commerce app, when a user signs up and enters their details, the app saves that information. The next time the user opens the app, they can log in and shop easily without entering the details again.</a:t>
            </a:r>
          </a:p>
          <a:p>
            <a:endParaRPr lang="en-US" dirty="0"/>
          </a:p>
        </p:txBody>
      </p:sp>
    </p:spTree>
    <p:extLst>
      <p:ext uri="{BB962C8B-B14F-4D97-AF65-F5344CB8AC3E}">
        <p14:creationId xmlns:p14="http://schemas.microsoft.com/office/powerpoint/2010/main" val="1498829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053D0-E37C-C70E-7931-B0F85D4BFE33}"/>
              </a:ext>
            </a:extLst>
          </p:cNvPr>
          <p:cNvSpPr>
            <a:spLocks noGrp="1"/>
          </p:cNvSpPr>
          <p:nvPr>
            <p:ph type="title"/>
          </p:nvPr>
        </p:nvSpPr>
        <p:spPr/>
        <p:txBody>
          <a:bodyPr/>
          <a:lstStyle/>
          <a:p>
            <a:r>
              <a:rPr lang="en-US" dirty="0"/>
              <a:t>2. Orders and Inquiries</a:t>
            </a:r>
          </a:p>
        </p:txBody>
      </p:sp>
      <p:sp>
        <p:nvSpPr>
          <p:cNvPr id="3" name="Content Placeholder 2">
            <a:extLst>
              <a:ext uri="{FF2B5EF4-FFF2-40B4-BE49-F238E27FC236}">
                <a16:creationId xmlns:a16="http://schemas.microsoft.com/office/drawing/2014/main" id="{435C4222-DA5E-9553-3F0A-1A88A9D299FB}"/>
              </a:ext>
            </a:extLst>
          </p:cNvPr>
          <p:cNvSpPr>
            <a:spLocks noGrp="1"/>
          </p:cNvSpPr>
          <p:nvPr>
            <p:ph idx="1"/>
          </p:nvPr>
        </p:nvSpPr>
        <p:spPr/>
        <p:txBody>
          <a:bodyPr/>
          <a:lstStyle/>
          <a:p>
            <a:r>
              <a:rPr lang="en-US" dirty="0"/>
              <a:t>This data records </a:t>
            </a:r>
            <a:r>
              <a:rPr lang="en-US" b="1" dirty="0"/>
              <a:t>transactions and questions</a:t>
            </a:r>
            <a:r>
              <a:rPr lang="en-US" dirty="0"/>
              <a:t> from customers.</a:t>
            </a:r>
          </a:p>
          <a:p>
            <a:r>
              <a:rPr lang="en-US" b="1" dirty="0"/>
              <a:t>Examples of Orders:</a:t>
            </a:r>
            <a:endParaRPr lang="en-US" dirty="0"/>
          </a:p>
          <a:p>
            <a:r>
              <a:rPr lang="en-US" dirty="0"/>
              <a:t>Product ordered</a:t>
            </a:r>
          </a:p>
          <a:p>
            <a:r>
              <a:rPr lang="en-US" dirty="0"/>
              <a:t>Quantity</a:t>
            </a:r>
          </a:p>
          <a:p>
            <a:r>
              <a:rPr lang="en-US" dirty="0"/>
              <a:t>Order date</a:t>
            </a:r>
          </a:p>
          <a:p>
            <a:r>
              <a:rPr lang="en-US" dirty="0"/>
              <a:t>Payment status</a:t>
            </a:r>
          </a:p>
          <a:p>
            <a:r>
              <a:rPr lang="en-US" dirty="0"/>
              <a:t>Delivery status</a:t>
            </a:r>
          </a:p>
          <a:p>
            <a:endParaRPr lang="en-US" dirty="0"/>
          </a:p>
          <a:p>
            <a:endParaRPr lang="en-US" dirty="0"/>
          </a:p>
        </p:txBody>
      </p:sp>
    </p:spTree>
    <p:extLst>
      <p:ext uri="{BB962C8B-B14F-4D97-AF65-F5344CB8AC3E}">
        <p14:creationId xmlns:p14="http://schemas.microsoft.com/office/powerpoint/2010/main" val="4072555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6D6D-FDBB-A8AD-08DF-E76F915EA891}"/>
              </a:ext>
            </a:extLst>
          </p:cNvPr>
          <p:cNvSpPr>
            <a:spLocks noGrp="1"/>
          </p:cNvSpPr>
          <p:nvPr>
            <p:ph type="title"/>
          </p:nvPr>
        </p:nvSpPr>
        <p:spPr/>
        <p:txBody>
          <a:bodyPr/>
          <a:lstStyle/>
          <a:p>
            <a:r>
              <a:rPr lang="en-US" dirty="0"/>
              <a:t>Why Orders and Inquiries Are Important in Apps</a:t>
            </a:r>
          </a:p>
        </p:txBody>
      </p:sp>
      <p:sp>
        <p:nvSpPr>
          <p:cNvPr id="3" name="Content Placeholder 2">
            <a:extLst>
              <a:ext uri="{FF2B5EF4-FFF2-40B4-BE49-F238E27FC236}">
                <a16:creationId xmlns:a16="http://schemas.microsoft.com/office/drawing/2014/main" id="{96297EE8-454E-4416-BD82-038085458B79}"/>
              </a:ext>
            </a:extLst>
          </p:cNvPr>
          <p:cNvSpPr>
            <a:spLocks noGrp="1"/>
          </p:cNvSpPr>
          <p:nvPr>
            <p:ph idx="1"/>
          </p:nvPr>
        </p:nvSpPr>
        <p:spPr/>
        <p:txBody>
          <a:bodyPr>
            <a:normAutofit fontScale="92500" lnSpcReduction="20000"/>
          </a:bodyPr>
          <a:lstStyle/>
          <a:p>
            <a:r>
              <a:rPr lang="en-US" b="1" dirty="0"/>
              <a:t>Tracks sales and transactions</a:t>
            </a:r>
            <a:br>
              <a:rPr lang="en-US" dirty="0"/>
            </a:br>
            <a:r>
              <a:rPr lang="en-US" dirty="0"/>
              <a:t>The app records what customers buy and when they buy it. This helps the business know how many products are sold.</a:t>
            </a:r>
          </a:p>
          <a:p>
            <a:r>
              <a:rPr lang="en-US" b="1" dirty="0"/>
              <a:t>Helps manage inventory and deliveries</a:t>
            </a:r>
            <a:br>
              <a:rPr lang="en-US" dirty="0"/>
            </a:br>
            <a:r>
              <a:rPr lang="en-US" dirty="0"/>
              <a:t>When an order is placed, the system updates the stock (available products) and helps arrange delivery to the customer.</a:t>
            </a:r>
          </a:p>
          <a:p>
            <a:r>
              <a:rPr lang="en-US" b="1" dirty="0"/>
              <a:t>Example</a:t>
            </a:r>
          </a:p>
          <a:p>
            <a:r>
              <a:rPr lang="en-US" dirty="0"/>
              <a:t>When a person orders food from a mobile food delivery app, the app saves details like food item, quantity, address, and payment. This information helps the restaurant prepare the order and deliver it to the customer</a:t>
            </a:r>
          </a:p>
          <a:p>
            <a:endParaRPr lang="en-US" dirty="0"/>
          </a:p>
        </p:txBody>
      </p:sp>
    </p:spTree>
    <p:extLst>
      <p:ext uri="{BB962C8B-B14F-4D97-AF65-F5344CB8AC3E}">
        <p14:creationId xmlns:p14="http://schemas.microsoft.com/office/powerpoint/2010/main" val="7208896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DBD2-33D8-7D35-9336-0420E8C4555D}"/>
              </a:ext>
            </a:extLst>
          </p:cNvPr>
          <p:cNvSpPr>
            <a:spLocks noGrp="1"/>
          </p:cNvSpPr>
          <p:nvPr>
            <p:ph type="title"/>
          </p:nvPr>
        </p:nvSpPr>
        <p:spPr/>
        <p:txBody>
          <a:bodyPr/>
          <a:lstStyle/>
          <a:p>
            <a:r>
              <a:rPr lang="en-US" dirty="0"/>
              <a:t>3. Feedback and Surveys</a:t>
            </a:r>
            <a:br>
              <a:rPr lang="en-US" dirty="0"/>
            </a:br>
            <a:endParaRPr lang="en-US" dirty="0"/>
          </a:p>
        </p:txBody>
      </p:sp>
      <p:sp>
        <p:nvSpPr>
          <p:cNvPr id="3" name="Content Placeholder 2">
            <a:extLst>
              <a:ext uri="{FF2B5EF4-FFF2-40B4-BE49-F238E27FC236}">
                <a16:creationId xmlns:a16="http://schemas.microsoft.com/office/drawing/2014/main" id="{5B1F0B1A-8B28-1B07-0682-CDB1F506A2CF}"/>
              </a:ext>
            </a:extLst>
          </p:cNvPr>
          <p:cNvSpPr>
            <a:spLocks noGrp="1"/>
          </p:cNvSpPr>
          <p:nvPr>
            <p:ph idx="1"/>
          </p:nvPr>
        </p:nvSpPr>
        <p:spPr/>
        <p:txBody>
          <a:bodyPr/>
          <a:lstStyle/>
          <a:p>
            <a:r>
              <a:rPr lang="en-US" dirty="0"/>
              <a:t>This data collects </a:t>
            </a:r>
            <a:r>
              <a:rPr lang="en-US" b="1" dirty="0"/>
              <a:t>customer opinions and satisfaction levels</a:t>
            </a:r>
            <a:r>
              <a:rPr lang="en-US" dirty="0"/>
              <a:t>.</a:t>
            </a:r>
          </a:p>
          <a:p>
            <a:r>
              <a:rPr lang="en-US" b="1" dirty="0"/>
              <a:t>Examples:</a:t>
            </a:r>
            <a:endParaRPr lang="en-US" dirty="0"/>
          </a:p>
          <a:p>
            <a:r>
              <a:rPr lang="en-US" dirty="0"/>
              <a:t>Product ratings (1–5 stars)</a:t>
            </a:r>
          </a:p>
          <a:p>
            <a:r>
              <a:rPr lang="en-US" dirty="0"/>
              <a:t>Reviews and comments</a:t>
            </a:r>
          </a:p>
          <a:p>
            <a:r>
              <a:rPr lang="en-US" dirty="0"/>
              <a:t>Survey responses</a:t>
            </a:r>
          </a:p>
          <a:p>
            <a:r>
              <a:rPr lang="en-US" dirty="0"/>
              <a:t>Customer satisfaction scores</a:t>
            </a:r>
          </a:p>
          <a:p>
            <a:endParaRPr lang="en-US" dirty="0"/>
          </a:p>
        </p:txBody>
      </p:sp>
    </p:spTree>
    <p:extLst>
      <p:ext uri="{BB962C8B-B14F-4D97-AF65-F5344CB8AC3E}">
        <p14:creationId xmlns:p14="http://schemas.microsoft.com/office/powerpoint/2010/main" val="3696345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6350-FB05-B56C-5E57-AD3DA377E0C7}"/>
              </a:ext>
            </a:extLst>
          </p:cNvPr>
          <p:cNvSpPr>
            <a:spLocks noGrp="1"/>
          </p:cNvSpPr>
          <p:nvPr>
            <p:ph type="title"/>
          </p:nvPr>
        </p:nvSpPr>
        <p:spPr/>
        <p:txBody>
          <a:bodyPr/>
          <a:lstStyle/>
          <a:p>
            <a:r>
              <a:rPr lang="en-US" dirty="0"/>
              <a:t>Why Feedback and Surveys Are Important in Apps</a:t>
            </a:r>
          </a:p>
        </p:txBody>
      </p:sp>
      <p:sp>
        <p:nvSpPr>
          <p:cNvPr id="3" name="Content Placeholder 2">
            <a:extLst>
              <a:ext uri="{FF2B5EF4-FFF2-40B4-BE49-F238E27FC236}">
                <a16:creationId xmlns:a16="http://schemas.microsoft.com/office/drawing/2014/main" id="{AFD4811D-54B4-E6C1-BE6F-B933CDF41E79}"/>
              </a:ext>
            </a:extLst>
          </p:cNvPr>
          <p:cNvSpPr>
            <a:spLocks noGrp="1"/>
          </p:cNvSpPr>
          <p:nvPr>
            <p:ph idx="1"/>
          </p:nvPr>
        </p:nvSpPr>
        <p:spPr/>
        <p:txBody>
          <a:bodyPr>
            <a:normAutofit fontScale="92500" lnSpcReduction="10000"/>
          </a:bodyPr>
          <a:lstStyle/>
          <a:p>
            <a:r>
              <a:rPr lang="en-US" b="1" dirty="0"/>
              <a:t>Helps businesses improve products and services</a:t>
            </a:r>
            <a:br>
              <a:rPr lang="en-US" dirty="0"/>
            </a:br>
            <a:r>
              <a:rPr lang="en-US" dirty="0"/>
              <a:t>Customer feedback tells the business what people like or dislike, so they can make their products or services better.</a:t>
            </a:r>
          </a:p>
          <a:p>
            <a:r>
              <a:rPr lang="en-US" b="1" dirty="0"/>
              <a:t>Shows customer needs and problems</a:t>
            </a:r>
            <a:br>
              <a:rPr lang="en-US" dirty="0"/>
            </a:br>
            <a:r>
              <a:rPr lang="en-US" dirty="0"/>
              <a:t>Feedback helps the business understand what customers want and what problems they face while using the product or app.</a:t>
            </a:r>
          </a:p>
          <a:p>
            <a:r>
              <a:rPr lang="en-US" b="1" dirty="0"/>
              <a:t>Example</a:t>
            </a:r>
          </a:p>
          <a:p>
            <a:r>
              <a:rPr lang="en-US" dirty="0"/>
              <a:t>After buying something, the app may ask the user to give a rating or write a review. This helps the business know if the customer is satisfied or not.</a:t>
            </a:r>
          </a:p>
          <a:p>
            <a:endParaRPr lang="en-US" dirty="0"/>
          </a:p>
        </p:txBody>
      </p:sp>
    </p:spTree>
    <p:extLst>
      <p:ext uri="{BB962C8B-B14F-4D97-AF65-F5344CB8AC3E}">
        <p14:creationId xmlns:p14="http://schemas.microsoft.com/office/powerpoint/2010/main" val="326399571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TM10001114[[fn=Gallery]]</Template>
  <TotalTime>3345</TotalTime>
  <Words>976</Words>
  <Application>Microsoft Office PowerPoint</Application>
  <PresentationFormat>Widescreen</PresentationFormat>
  <Paragraphs>109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Gill Sans MT</vt:lpstr>
      <vt:lpstr>Gallery</vt:lpstr>
      <vt:lpstr>PowerPoint Presentation</vt:lpstr>
      <vt:lpstr>Lecture : 06</vt:lpstr>
      <vt:lpstr>Web forms</vt:lpstr>
      <vt:lpstr>Real-life Examples of Web Forms in Business</vt:lpstr>
      <vt:lpstr>Customer Data &amp; Business Information Flow</vt:lpstr>
      <vt:lpstr>Real-life Flow Example</vt:lpstr>
      <vt:lpstr>Purpose of web forms in business applications</vt:lpstr>
      <vt:lpstr>Cont…</vt:lpstr>
      <vt:lpstr>Form heading</vt:lpstr>
      <vt:lpstr>Creating the Form Container </vt:lpstr>
      <vt:lpstr>Name input fields</vt:lpstr>
      <vt:lpstr>Email input fields</vt:lpstr>
      <vt:lpstr>Rating drop down</vt:lpstr>
      <vt:lpstr>Comments text area</vt:lpstr>
      <vt:lpstr>Submit button</vt:lpstr>
      <vt:lpstr>Types of business data</vt:lpstr>
      <vt:lpstr>Why Customer Information is Important in Apps</vt:lpstr>
      <vt:lpstr>2. Orders and Inquiries</vt:lpstr>
      <vt:lpstr>Why Orders and Inquiries Are Important in Apps</vt:lpstr>
      <vt:lpstr>3. Feedback and Surveys </vt:lpstr>
      <vt:lpstr>Why Feedback and Surveys Are Important in Apps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Asad Javed</dc:creator>
  <cp:lastModifiedBy>Asad Javed</cp:lastModifiedBy>
  <cp:revision>265</cp:revision>
  <dcterms:created xsi:type="dcterms:W3CDTF">2025-09-12T12:30:33Z</dcterms:created>
  <dcterms:modified xsi:type="dcterms:W3CDTF">2026-03-06T04:38:02Z</dcterms:modified>
</cp:coreProperties>
</file>