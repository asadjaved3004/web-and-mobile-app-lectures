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91" r:id="rId8"/>
    <p:sldId id="292" r:id="rId9"/>
    <p:sldId id="293" r:id="rId10"/>
    <p:sldId id="294" r:id="rId11"/>
    <p:sldId id="295" r:id="rId12"/>
    <p:sldId id="296" r:id="rId13"/>
    <p:sldId id="299" r:id="rId14"/>
    <p:sldId id="301" r:id="rId15"/>
    <p:sldId id="278" r:id="rId16"/>
    <p:sldId id="279" r:id="rId17"/>
    <p:sldId id="281" r:id="rId18"/>
    <p:sldId id="282" r:id="rId19"/>
    <p:sldId id="298" r:id="rId20"/>
    <p:sldId id="300" r:id="rId21"/>
    <p:sldId id="285" r:id="rId22"/>
    <p:sldId id="286" r:id="rId23"/>
    <p:sldId id="287" r:id="rId24"/>
    <p:sldId id="288" r:id="rId25"/>
    <p:sldId id="289" r:id="rId26"/>
    <p:sldId id="290" r:id="rId27"/>
    <p:sldId id="283" r:id="rId28"/>
    <p:sldId id="284" r:id="rId29"/>
    <p:sldId id="297" r:id="rId30"/>
    <p:sldId id="302" r:id="rId31"/>
    <p:sldId id="303" r:id="rId32"/>
    <p:sldId id="304" r:id="rId33"/>
    <p:sldId id="305" r:id="rId34"/>
    <p:sldId id="306" r:id="rId35"/>
    <p:sldId id="307" r:id="rId36"/>
    <p:sldId id="308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68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964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616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701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697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206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57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625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41BB4F6-8B81-41C3-9539-DA183A3106B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900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929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013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BB4F6-8B81-41C3-9539-DA183A3106B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68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asadjaved3052@gmail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://de.wikipedia.org/wiki/Datei:Mozilla_Firefox_Logo.png" TargetMode="External"/><Relationship Id="rId3" Type="http://schemas.openxmlformats.org/officeDocument/2006/relationships/hyperlink" Target="https://freepngimg.com/png/66776-google-computer-icons-chrome-scalable-vector-graphics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ccess.paylocity.com/Saml/SignIn?CompanyId=94973" TargetMode="External"/><Relationship Id="rId11" Type="http://schemas.openxmlformats.org/officeDocument/2006/relationships/hyperlink" Target="https://devicebase.net/en/microsoft-edge/updates/fixed-various-bugs-fixes-feature-updates-and-performance-issues/8ne" TargetMode="External"/><Relationship Id="rId5" Type="http://schemas.openxmlformats.org/officeDocument/2006/relationships/image" Target="../media/image4.png"/><Relationship Id="rId10" Type="http://schemas.openxmlformats.org/officeDocument/2006/relationships/image" Target="../media/image6.jpg"/><Relationship Id="rId4" Type="http://schemas.openxmlformats.org/officeDocument/2006/relationships/hyperlink" Target="https://creativecommons.org/licenses/by-nc/3.0/" TargetMode="External"/><Relationship Id="rId9" Type="http://schemas.openxmlformats.org/officeDocument/2006/relationships/hyperlink" Target="https://creativecommons.org/licenses/by-sa/3.0/" TargetMode="Externa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topjobstoday.com/company/google/job/software-engineer-ii-google-arts-culture-place-london-uk-1" TargetMode="External"/><Relationship Id="rId3" Type="http://schemas.openxmlformats.org/officeDocument/2006/relationships/hyperlink" Target="https://wiki.miranda-ng.org/index.php?title=File:Yahoo_logo.png" TargetMode="External"/><Relationship Id="rId7" Type="http://schemas.openxmlformats.org/officeDocument/2006/relationships/image" Target="../media/image9.web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pkmirror.com/apk/microsoft-corporation/bing/variant-%7B%22arches_slug%22%3A%5B%22x86_64%22%5D%2C%22dpis_slug%22%3A%5B%22nodpi%22%5D%2C%22minapi_slug%22%3A%22minapi-28%22%7D/page/2/" TargetMode="External"/><Relationship Id="rId5" Type="http://schemas.openxmlformats.org/officeDocument/2006/relationships/image" Target="../media/image8.png"/><Relationship Id="rId4" Type="http://schemas.openxmlformats.org/officeDocument/2006/relationships/hyperlink" Target="https://creativecommons.org/licenses/by-sa/3.0/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E0388-B079-A389-5EBE-C58E485673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0573A-2BBC-EE84-71B3-8B9EF27588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CD68E3-D30D-AA20-48F4-C569A026A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55" y="788918"/>
            <a:ext cx="11132090" cy="3704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9265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8926B-44A9-98EF-381E-9D04EC7E9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BBA4D-FF41-1D4C-74B6-053341040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Name:  Asad Javed</a:t>
            </a:r>
          </a:p>
          <a:p>
            <a:r>
              <a:rPr lang="en-US" altLang="en-US" dirty="0"/>
              <a:t>Qualification: MS(Computer Science)-CUST</a:t>
            </a:r>
          </a:p>
          <a:p>
            <a:r>
              <a:rPr lang="en-US" altLang="en-US" dirty="0"/>
              <a:t>Specialization in Data Science and Mobile Applications Development</a:t>
            </a:r>
          </a:p>
          <a:p>
            <a:r>
              <a:rPr lang="en-US" altLang="en-US" dirty="0"/>
              <a:t>Over 5+ years of  experience including Academia and software industry</a:t>
            </a:r>
          </a:p>
          <a:p>
            <a:r>
              <a:rPr lang="en-US" altLang="en-US" dirty="0"/>
              <a:t>Email: </a:t>
            </a:r>
            <a:r>
              <a:rPr lang="en-US" altLang="en-US" dirty="0">
                <a:hlinkClick r:id="rId2"/>
              </a:rPr>
              <a:t>asadjaved3052@gmail.com</a:t>
            </a:r>
            <a:endParaRPr lang="en-US" altLang="en-US" dirty="0"/>
          </a:p>
          <a:p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054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56436-9A20-B86B-211E-DB27A3515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DCDB5-963D-3B4E-F8D2-CE2FF0810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Course Code: IET1001</a:t>
            </a:r>
          </a:p>
          <a:p>
            <a:r>
              <a:rPr lang="en-US" dirty="0"/>
              <a:t>Course Title: Web and Mobile App Development</a:t>
            </a:r>
          </a:p>
          <a:p>
            <a:r>
              <a:rPr lang="en-US" dirty="0"/>
              <a:t>Pre-Requisite: None</a:t>
            </a:r>
          </a:p>
          <a:p>
            <a:r>
              <a:rPr lang="en-US" dirty="0"/>
              <a:t>Material : Slides / Books / Internet Resource</a:t>
            </a:r>
          </a:p>
          <a:p>
            <a:pPr lvl="0"/>
            <a:r>
              <a:rPr lang="en-US" dirty="0"/>
              <a:t>Book:  Duckett, Jon - HTML &amp; CSS: Design and Build Websites, John Wiley &amp; Sons, Inc. (ISBN 978-1118008188)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152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95DAD-B0C0-6E96-1C03-EAD5388B9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CC7A1-9CE7-588D-BED9-DC8386009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Quizzes</a:t>
            </a:r>
          </a:p>
          <a:p>
            <a:r>
              <a:rPr lang="en-US" altLang="en-US" dirty="0"/>
              <a:t>Assignments</a:t>
            </a:r>
          </a:p>
          <a:p>
            <a:r>
              <a:rPr lang="en-US" altLang="en-US" dirty="0"/>
              <a:t>Class Participation</a:t>
            </a:r>
          </a:p>
          <a:p>
            <a:r>
              <a:rPr lang="en-US" altLang="en-US" dirty="0"/>
              <a:t>Attendance</a:t>
            </a:r>
          </a:p>
          <a:p>
            <a:r>
              <a:rPr lang="en-US" altLang="en-US" dirty="0"/>
              <a:t>Midterm</a:t>
            </a:r>
          </a:p>
          <a:p>
            <a:r>
              <a:rPr lang="en-US" altLang="en-US" dirty="0"/>
              <a:t>Final term</a:t>
            </a:r>
          </a:p>
          <a:p>
            <a:r>
              <a:rPr lang="en-US" altLang="en-US" dirty="0"/>
              <a:t>Semester Project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2820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3181C-59EE-16DB-00C9-737771AE8E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Lecture : 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CF6595-6D7A-271E-1DC9-E6C569455F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Introduction to Digital Applications &amp; Business Systems</a:t>
            </a:r>
          </a:p>
        </p:txBody>
      </p:sp>
    </p:spTree>
    <p:extLst>
      <p:ext uri="{BB962C8B-B14F-4D97-AF65-F5344CB8AC3E}">
        <p14:creationId xmlns:p14="http://schemas.microsoft.com/office/powerpoint/2010/main" val="789811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AB2F6-1EB9-17BA-22FE-9F2857E47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Application?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3706E-9375-5A98-EEC7-62EB89015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2113204"/>
            <a:ext cx="9603275" cy="3450613"/>
          </a:xfrm>
        </p:spPr>
        <p:txBody>
          <a:bodyPr/>
          <a:lstStyle/>
          <a:p>
            <a:r>
              <a:rPr lang="en-US" dirty="0"/>
              <a:t>An application  is a software program that helps users perform tasks or solve problems.</a:t>
            </a:r>
          </a:p>
          <a:p>
            <a:r>
              <a:rPr lang="en-US" b="1" dirty="0"/>
              <a:t>Types:</a:t>
            </a:r>
            <a:endParaRPr lang="en-US" dirty="0"/>
          </a:p>
          <a:p>
            <a:r>
              <a:rPr lang="en-US" dirty="0"/>
              <a:t>Web Applications – Run on web browsers (Chrome, Safari)</a:t>
            </a:r>
          </a:p>
          <a:p>
            <a:r>
              <a:rPr lang="en-US" dirty="0"/>
              <a:t>Mobile Applications – Run on smartphones and tablets</a:t>
            </a:r>
          </a:p>
          <a:p>
            <a:r>
              <a:rPr lang="en-US" dirty="0"/>
              <a:t>Desktop Applications – Installed on a computer (Windows, Mac, Linux)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003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849BB-AD31-F772-1F4D-2494F9B9D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F4ADC-A845-F100-6695-CB1C8684A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web application works through the internet</a:t>
            </a:r>
            <a:r>
              <a:rPr lang="en-US" dirty="0"/>
              <a:t> because It runs on a </a:t>
            </a:r>
            <a:r>
              <a:rPr lang="en-US" b="1" dirty="0"/>
              <a:t>server</a:t>
            </a:r>
            <a:r>
              <a:rPr lang="en-US" dirty="0"/>
              <a:t> (not on your computer)</a:t>
            </a:r>
          </a:p>
          <a:p>
            <a:r>
              <a:rPr lang="en-US" dirty="0"/>
              <a:t>Your browser connects to that server to use the app</a:t>
            </a:r>
          </a:p>
          <a:p>
            <a:r>
              <a:rPr lang="en-US" dirty="0"/>
              <a:t>Examples that require internet : Online shopping websites</a:t>
            </a:r>
          </a:p>
          <a:p>
            <a:r>
              <a:rPr lang="en-US" dirty="0"/>
              <a:t>Online banking</a:t>
            </a:r>
          </a:p>
          <a:p>
            <a:r>
              <a:rPr lang="en-US" dirty="0"/>
              <a:t>Google Docs</a:t>
            </a:r>
          </a:p>
          <a:p>
            <a:r>
              <a:rPr lang="en-US" dirty="0"/>
              <a:t>University portals</a:t>
            </a:r>
          </a:p>
          <a:p>
            <a:r>
              <a:rPr lang="en-US" dirty="0"/>
              <a:t>Without internet , these will not 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52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C0D2-70F6-871A-96E4-659CBE0E0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Mobile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E284F-91E7-E442-0F3E-4F01E4AB6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mobile application</a:t>
            </a:r>
            <a:r>
              <a:rPr lang="en-US" dirty="0"/>
              <a:t> is an app that runs on a </a:t>
            </a:r>
            <a:r>
              <a:rPr lang="en-US" b="1" dirty="0"/>
              <a:t>smartphone or tablet</a:t>
            </a:r>
            <a:r>
              <a:rPr lang="en-US" dirty="0"/>
              <a:t>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Banking apps</a:t>
            </a:r>
          </a:p>
          <a:p>
            <a:r>
              <a:rPr lang="en-US" dirty="0"/>
              <a:t>Food delivery apps</a:t>
            </a:r>
          </a:p>
          <a:p>
            <a:r>
              <a:rPr lang="en-US" dirty="0"/>
              <a:t>Shopping apps</a:t>
            </a:r>
          </a:p>
          <a:p>
            <a:r>
              <a:rPr lang="en-US" dirty="0"/>
              <a:t>Mobile apps </a:t>
            </a:r>
            <a:r>
              <a:rPr lang="en-US" b="1" dirty="0"/>
              <a:t>must be installed</a:t>
            </a:r>
            <a:r>
              <a:rPr lang="en-US" dirty="0"/>
              <a:t> from:</a:t>
            </a:r>
          </a:p>
          <a:p>
            <a:r>
              <a:rPr lang="en-US" dirty="0"/>
              <a:t>Google Play Store (Android)</a:t>
            </a:r>
          </a:p>
          <a:p>
            <a:r>
              <a:rPr lang="en-US" dirty="0"/>
              <a:t>Apple App Store (iPhone)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785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568B4-63F4-B390-C16D-C878C8E01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Businesses Prefer Mobile Apps?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99608-3259-F915-944E-F726534AA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Customers carry phones everywhere </a:t>
            </a:r>
          </a:p>
          <a:p>
            <a:r>
              <a:rPr lang="en-US" dirty="0"/>
              <a:t>Faster access than websites</a:t>
            </a:r>
          </a:p>
          <a:p>
            <a:r>
              <a:rPr lang="en-US" dirty="0"/>
              <a:t>Push notifications (offers, alerts)</a:t>
            </a:r>
          </a:p>
          <a:p>
            <a:r>
              <a:rPr lang="en-US" dirty="0"/>
              <a:t>Better customer engagement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142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894E5-6CDF-533C-CB10-7AABD229B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Desktop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7D66B-628F-1C73-AA74-09875E1FB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desktop application</a:t>
            </a:r>
            <a:r>
              <a:rPr lang="en-US" dirty="0"/>
              <a:t> is software that runs on a </a:t>
            </a:r>
            <a:r>
              <a:rPr lang="en-US" b="1" dirty="0"/>
              <a:t>computer or laptop</a:t>
            </a:r>
            <a:r>
              <a:rPr lang="en-US" dirty="0"/>
              <a:t>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MS Word</a:t>
            </a:r>
          </a:p>
          <a:p>
            <a:r>
              <a:rPr lang="en-US" dirty="0"/>
              <a:t>MS Excel</a:t>
            </a:r>
          </a:p>
          <a:p>
            <a:r>
              <a:rPr lang="en-US" dirty="0"/>
              <a:t>Accounting software (QuickBooks, Peachtree)</a:t>
            </a:r>
          </a:p>
          <a:p>
            <a:r>
              <a:rPr lang="en-US" dirty="0"/>
              <a:t>POS software in shops</a:t>
            </a:r>
          </a:p>
          <a:p>
            <a:pPr marL="0" indent="0">
              <a:buNone/>
            </a:pPr>
            <a:r>
              <a:rPr lang="en-US" dirty="0"/>
              <a:t>Most desktop applications:</a:t>
            </a:r>
          </a:p>
          <a:p>
            <a:r>
              <a:rPr lang="en-US" dirty="0"/>
              <a:t>Can work without internet</a:t>
            </a:r>
          </a:p>
          <a:p>
            <a:r>
              <a:rPr lang="en-US" dirty="0"/>
              <a:t>Run directly on the computer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575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0C259-9086-51B8-C50A-16C4936D6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0BBFC-603B-C7CE-6333-E13C7CC46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enterprise application is a large, complex software system used by big organizations to manage multiple business activities in one place.</a:t>
            </a:r>
          </a:p>
          <a:p>
            <a:r>
              <a:rPr lang="en-US" dirty="0"/>
              <a:t>These apps are usually not for individual users, but for companies to run their operations smoothly.</a:t>
            </a:r>
          </a:p>
          <a:p>
            <a:r>
              <a:rPr lang="en-US" dirty="0"/>
              <a:t>HR management systems : employee attendance, payroll, recruitment</a:t>
            </a:r>
          </a:p>
          <a:p>
            <a:r>
              <a:rPr lang="en-US" dirty="0"/>
              <a:t>Inventory &amp; supply chain systems : track stock, orders, shipments</a:t>
            </a:r>
          </a:p>
          <a:p>
            <a:r>
              <a:rPr lang="en-US" dirty="0"/>
              <a:t>NADRA (National Database &amp; Registration Authority) manages </a:t>
            </a:r>
            <a:r>
              <a:rPr lang="en-US" b="1" dirty="0"/>
              <a:t>citizen data</a:t>
            </a:r>
            <a:r>
              <a:rPr lang="en-US" dirty="0"/>
              <a:t> in Pakistan.</a:t>
            </a:r>
          </a:p>
        </p:txBody>
      </p:sp>
    </p:spTree>
    <p:extLst>
      <p:ext uri="{BB962C8B-B14F-4D97-AF65-F5344CB8AC3E}">
        <p14:creationId xmlns:p14="http://schemas.microsoft.com/office/powerpoint/2010/main" val="1163505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3E1DB-1916-E5BA-7C0C-10F7B157E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E-Commerce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806FB-CC69-D4DC-5BF8-3DD7799D3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E-commerce apps allow buying and selling products or services online.</a:t>
            </a:r>
          </a:p>
          <a:p>
            <a:r>
              <a:rPr lang="en-US" dirty="0"/>
              <a:t>They connect businesses and customers digitally.</a:t>
            </a:r>
          </a:p>
          <a:p>
            <a:r>
              <a:rPr lang="en-US" dirty="0"/>
              <a:t>Usually accessed via web browsers or mobile apps.</a:t>
            </a:r>
          </a:p>
          <a:p>
            <a:r>
              <a:rPr lang="en-US" b="1" dirty="0"/>
              <a:t>For Example: </a:t>
            </a:r>
          </a:p>
          <a:p>
            <a:r>
              <a:rPr lang="en-US" dirty="0"/>
              <a:t>Amazon, </a:t>
            </a:r>
            <a:r>
              <a:rPr lang="en-US" dirty="0" err="1"/>
              <a:t>Daraz</a:t>
            </a:r>
            <a:r>
              <a:rPr lang="en-US" dirty="0"/>
              <a:t> : Online shopping websites</a:t>
            </a:r>
          </a:p>
          <a:p>
            <a:r>
              <a:rPr lang="en-US" dirty="0" err="1"/>
              <a:t>Foodpanda</a:t>
            </a:r>
            <a:r>
              <a:rPr lang="en-US" dirty="0"/>
              <a:t>, Careem : Food delivery apps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63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BA99C-2ACE-E867-CF6B-C4B8CB6A4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Page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D292C-7B0F-DEDE-DCCC-D023817A7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Single Page Application (SPA) is a web application that loads a single HTML page and dynamically updates content as the user interacts.</a:t>
            </a:r>
          </a:p>
          <a:p>
            <a:r>
              <a:rPr lang="en-US" dirty="0"/>
              <a:t>No full page reloads are needed when moving between different parts of the app.</a:t>
            </a:r>
          </a:p>
          <a:p>
            <a:r>
              <a:rPr lang="en-US" dirty="0"/>
              <a:t>Technologies used in SPA:</a:t>
            </a:r>
          </a:p>
          <a:p>
            <a:r>
              <a:rPr lang="en-US" dirty="0"/>
              <a:t>Frontend : React.js , Angular , Vue.js</a:t>
            </a:r>
          </a:p>
          <a:p>
            <a:r>
              <a:rPr lang="en-US" dirty="0"/>
              <a:t>Component Based </a:t>
            </a:r>
          </a:p>
          <a:p>
            <a:r>
              <a:rPr lang="en-US" dirty="0"/>
              <a:t>Example : Social Media Apps (Facebook , Instagram)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699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04E30-0128-FFF7-C032-6D77D8020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businesses like SPA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1266D-0316-0C0D-2E76-43CA1C144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Fast User Experience</a:t>
            </a:r>
          </a:p>
          <a:p>
            <a:r>
              <a:rPr lang="en-US" dirty="0"/>
              <a:t>No full-page reload - app feels smooth and responsive</a:t>
            </a:r>
          </a:p>
          <a:p>
            <a:r>
              <a:rPr lang="en-US" b="1" dirty="0"/>
              <a:t>Better Performance</a:t>
            </a:r>
          </a:p>
          <a:p>
            <a:r>
              <a:rPr lang="en-US" dirty="0"/>
              <a:t>Only new content is loaded - saves bandwidth</a:t>
            </a:r>
          </a:p>
          <a:p>
            <a:r>
              <a:rPr lang="en-US" b="1" dirty="0"/>
              <a:t>Mobile-Friendly</a:t>
            </a:r>
          </a:p>
          <a:p>
            <a:r>
              <a:rPr lang="en-US" dirty="0"/>
              <a:t>Works well on web browsers and mobile devices</a:t>
            </a:r>
          </a:p>
          <a:p>
            <a:r>
              <a:rPr lang="en-US" b="1" dirty="0"/>
              <a:t>Easy to Maintain</a:t>
            </a:r>
          </a:p>
          <a:p>
            <a:r>
              <a:rPr lang="en-US" dirty="0"/>
              <a:t>Frontend and backend can be separated - faster updates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409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A4041-8B2F-DAFF-315A-3EC06654A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Digital Applications in Modern Business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70AC8-D844-6F08-F413-AA5BCD139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Digital applications</a:t>
            </a:r>
            <a:r>
              <a:rPr lang="en-US" dirty="0"/>
              <a:t> help businesses:</a:t>
            </a:r>
          </a:p>
          <a:p>
            <a:r>
              <a:rPr lang="en-US" dirty="0"/>
              <a:t>Automate repetitive tasks : Digital applications can do routine work automatically, so humans don’t have to do it again and again.</a:t>
            </a:r>
            <a:br>
              <a:rPr lang="en-US" dirty="0"/>
            </a:br>
            <a:r>
              <a:rPr lang="en-US" dirty="0"/>
              <a:t>For example:</a:t>
            </a:r>
          </a:p>
          <a:p>
            <a:pPr lvl="1"/>
            <a:r>
              <a:rPr lang="en-US" dirty="0"/>
              <a:t>Payroll systems automatically calculate salaries.</a:t>
            </a:r>
          </a:p>
          <a:p>
            <a:pPr lvl="1"/>
            <a:r>
              <a:rPr lang="en-US" dirty="0"/>
              <a:t>Inventory systems automatically track how many items are in stock.</a:t>
            </a:r>
          </a:p>
        </p:txBody>
      </p:sp>
    </p:spTree>
    <p:extLst>
      <p:ext uri="{BB962C8B-B14F-4D97-AF65-F5344CB8AC3E}">
        <p14:creationId xmlns:p14="http://schemas.microsoft.com/office/powerpoint/2010/main" val="2403455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C5D0A-048A-1895-048B-47A99092D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68933-5BE2-9F8F-694B-50712E5EA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Collect and analyze data </a:t>
            </a:r>
          </a:p>
          <a:p>
            <a:r>
              <a:rPr lang="en-US" dirty="0"/>
              <a:t>Apps can store information and then study it to find useful patterns. For example:</a:t>
            </a:r>
          </a:p>
          <a:p>
            <a:r>
              <a:rPr lang="en-US" dirty="0"/>
              <a:t>What products customers buy most</a:t>
            </a:r>
          </a:p>
          <a:p>
            <a:r>
              <a:rPr lang="en-US" dirty="0"/>
              <a:t>Which days sales are highest</a:t>
            </a:r>
          </a:p>
          <a:p>
            <a:r>
              <a:rPr lang="en-US" dirty="0"/>
              <a:t>What customers like or dislike</a:t>
            </a:r>
          </a:p>
          <a:p>
            <a:r>
              <a:rPr lang="en-US" dirty="0"/>
              <a:t> This helps businesses make </a:t>
            </a:r>
            <a:r>
              <a:rPr lang="en-US" b="1" dirty="0"/>
              <a:t>better decisions</a:t>
            </a:r>
            <a:r>
              <a:rPr lang="en-US" dirty="0"/>
              <a:t> instead of guessing.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728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41AB8-BF82-B049-8FAD-2A399DCCA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3D275-8459-A75D-2C64-A93BB5D72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Reach and interact with customers</a:t>
            </a:r>
          </a:p>
          <a:p>
            <a:r>
              <a:rPr lang="en-US" dirty="0"/>
              <a:t>Digital apps help businesses connect with customers easily.</a:t>
            </a:r>
            <a:br>
              <a:rPr lang="en-US" dirty="0"/>
            </a:br>
            <a:r>
              <a:rPr lang="en-US" dirty="0"/>
              <a:t>For example:</a:t>
            </a:r>
          </a:p>
          <a:p>
            <a:r>
              <a:rPr lang="en-US" b="1" dirty="0"/>
              <a:t>E-commerce apps</a:t>
            </a:r>
            <a:r>
              <a:rPr lang="en-US" dirty="0"/>
              <a:t> allow customers to buy products online.</a:t>
            </a:r>
          </a:p>
          <a:p>
            <a:r>
              <a:rPr lang="en-US" b="1" dirty="0"/>
              <a:t>Social media apps</a:t>
            </a:r>
            <a:r>
              <a:rPr lang="en-US" dirty="0"/>
              <a:t> help businesses advertise and communicate with customers.</a:t>
            </a:r>
          </a:p>
          <a:p>
            <a:r>
              <a:rPr lang="en-US" dirty="0"/>
              <a:t> Businesses can reach more people, even outside their city or country.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464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55053-C998-F70F-B258-B6613A124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5D57C-0231-526A-A09B-958A0E69F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Reduce errors and improve efficiency</a:t>
            </a:r>
          </a:p>
          <a:p>
            <a:r>
              <a:rPr lang="en-US" dirty="0"/>
              <a:t>When work is done by software instead of manually:</a:t>
            </a:r>
          </a:p>
          <a:p>
            <a:r>
              <a:rPr lang="en-US" dirty="0"/>
              <a:t>Fewer mistakes happen</a:t>
            </a:r>
          </a:p>
          <a:p>
            <a:r>
              <a:rPr lang="en-US" dirty="0"/>
              <a:t>Work is done faster and more accurately</a:t>
            </a:r>
          </a:p>
          <a:p>
            <a:r>
              <a:rPr lang="en-US" dirty="0"/>
              <a:t>Employees can focus on important tasks, while the system handles routine 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179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10C0-1228-4804-E1E4-21CCEEBCB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ACE7E-D55B-D081-17C3-24DB15706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: structure of the page (like the skeleton)</a:t>
            </a:r>
          </a:p>
          <a:p>
            <a:r>
              <a:rPr lang="en-US" dirty="0"/>
              <a:t>CSS : style &amp; design (colors, fonts, layout)</a:t>
            </a:r>
          </a:p>
          <a:p>
            <a:r>
              <a:rPr lang="en-US" dirty="0"/>
              <a:t>JavaScript : makes the page interactive (buttons, forms)</a:t>
            </a:r>
          </a:p>
          <a:p>
            <a:r>
              <a:rPr lang="en-US" b="1" dirty="0"/>
              <a:t>For Mobile Apps:</a:t>
            </a:r>
          </a:p>
          <a:p>
            <a:r>
              <a:rPr lang="en-US" dirty="0"/>
              <a:t>Flutter, React Native for Cross Platform Applications</a:t>
            </a:r>
          </a:p>
          <a:p>
            <a:r>
              <a:rPr lang="en-US" dirty="0"/>
              <a:t>Java , Kotlin for Native Applications</a:t>
            </a:r>
          </a:p>
        </p:txBody>
      </p:sp>
    </p:spTree>
    <p:extLst>
      <p:ext uri="{BB962C8B-B14F-4D97-AF65-F5344CB8AC3E}">
        <p14:creationId xmlns:p14="http://schemas.microsoft.com/office/powerpoint/2010/main" val="2513372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ACEA9-AB04-A495-620A-6DBE6D8B8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8070B-99F3-B133-2DD5-82409CFD4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Backend: (server &amp; Logic)</a:t>
            </a:r>
          </a:p>
          <a:p>
            <a:r>
              <a:rPr lang="en-US" b="1" dirty="0"/>
              <a:t>Languages: </a:t>
            </a:r>
            <a:r>
              <a:rPr lang="en-US" dirty="0"/>
              <a:t>Java, Python, PHP, Node.js</a:t>
            </a:r>
          </a:p>
          <a:p>
            <a:r>
              <a:rPr lang="en-US" dirty="0"/>
              <a:t>Purpose: Processes orders, login, payments, calculations</a:t>
            </a:r>
          </a:p>
          <a:p>
            <a:r>
              <a:rPr lang="en-US" dirty="0"/>
              <a:t>Analogy: Backend = chefs preparing food, invisible to customers</a:t>
            </a:r>
          </a:p>
          <a:p>
            <a:r>
              <a:rPr lang="en-US" b="1" dirty="0"/>
              <a:t>Database (where info is stored)</a:t>
            </a:r>
            <a:endParaRPr lang="en-US" dirty="0"/>
          </a:p>
          <a:p>
            <a:r>
              <a:rPr lang="en-US" b="1" dirty="0"/>
              <a:t>Languages/Technologies:</a:t>
            </a:r>
            <a:r>
              <a:rPr lang="en-US" dirty="0"/>
              <a:t> SQL (MySQL, PostgreSQL), NoSQL (MongoDB, Firebase)</a:t>
            </a:r>
          </a:p>
          <a:p>
            <a:r>
              <a:rPr lang="en-US" dirty="0"/>
              <a:t>Purpose: Save user data, orders, inventory, transactions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027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6C0EF-6FF2-953A-B351-350EBABDD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Applications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C8378-5619-1B79-DF7C-697F9E5C4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Think of an application like a </a:t>
            </a:r>
            <a:r>
              <a:rPr lang="en-US" b="1" dirty="0"/>
              <a:t>restaurant system</a:t>
            </a:r>
            <a:r>
              <a:rPr lang="en-US" dirty="0"/>
              <a:t>. The customer doesn’t see the kitchen  but a lot is happening inside.</a:t>
            </a:r>
          </a:p>
          <a:p>
            <a:r>
              <a:rPr lang="en-US" dirty="0"/>
              <a:t>Basic Flow: User - App - System - Data – Result</a:t>
            </a:r>
          </a:p>
          <a:p>
            <a:r>
              <a:rPr lang="en-US" b="1" dirty="0"/>
              <a:t>User</a:t>
            </a:r>
          </a:p>
          <a:p>
            <a:r>
              <a:rPr lang="en-US" dirty="0"/>
              <a:t>The </a:t>
            </a:r>
            <a:r>
              <a:rPr lang="en-US" b="1" dirty="0"/>
              <a:t>user</a:t>
            </a:r>
            <a:r>
              <a:rPr lang="en-US" dirty="0"/>
              <a:t> is the person using the app.</a:t>
            </a:r>
          </a:p>
          <a:p>
            <a:r>
              <a:rPr lang="en-US" dirty="0"/>
              <a:t>For Example:</a:t>
            </a:r>
          </a:p>
          <a:p>
            <a:r>
              <a:rPr lang="en-US" dirty="0"/>
              <a:t>A customer placing an order</a:t>
            </a:r>
          </a:p>
          <a:p>
            <a:r>
              <a:rPr lang="en-US" dirty="0"/>
              <a:t>An employee checking sales</a:t>
            </a:r>
          </a:p>
          <a:p>
            <a:r>
              <a:rPr lang="en-US" dirty="0"/>
              <a:t>A manager viewing reports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92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3E5BF-7F1F-E118-816E-D0BB9DE44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0D3CE-DE20-57D3-2154-EE14463FE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App – Frontend</a:t>
            </a:r>
          </a:p>
          <a:p>
            <a:r>
              <a:rPr lang="en-US" dirty="0"/>
              <a:t>This is the </a:t>
            </a:r>
            <a:r>
              <a:rPr lang="en-US" b="1" dirty="0"/>
              <a:t>visible part</a:t>
            </a:r>
            <a:r>
              <a:rPr lang="en-US" dirty="0"/>
              <a:t> of the application.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Website pages</a:t>
            </a:r>
          </a:p>
          <a:p>
            <a:r>
              <a:rPr lang="en-US" dirty="0"/>
              <a:t>Mobile app screens</a:t>
            </a:r>
          </a:p>
          <a:p>
            <a:r>
              <a:rPr lang="en-US" dirty="0"/>
              <a:t>Forms, buttons, images</a:t>
            </a:r>
          </a:p>
          <a:p>
            <a:r>
              <a:rPr lang="en-US" b="1" dirty="0"/>
              <a:t>What it does:</a:t>
            </a:r>
            <a:endParaRPr lang="en-US" dirty="0"/>
          </a:p>
          <a:p>
            <a:r>
              <a:rPr lang="en-US" dirty="0"/>
              <a:t>Takes user input (order details, login info)</a:t>
            </a:r>
          </a:p>
          <a:p>
            <a:r>
              <a:rPr lang="en-US" dirty="0"/>
              <a:t>Shows information (prices, confirmation messages)</a:t>
            </a: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016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5E428-C959-8FF5-31CA-1E1B32AC7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7493E-874E-924A-946C-FB8CB29F5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System – Backend</a:t>
            </a:r>
          </a:p>
          <a:p>
            <a:r>
              <a:rPr lang="en-US" dirty="0"/>
              <a:t>This is the brain of the application, hidden from users.</a:t>
            </a:r>
          </a:p>
          <a:p>
            <a:r>
              <a:rPr lang="en-US" b="1" dirty="0"/>
              <a:t>What happens here:</a:t>
            </a:r>
            <a:endParaRPr lang="en-US" dirty="0"/>
          </a:p>
          <a:p>
            <a:r>
              <a:rPr lang="en-US" dirty="0"/>
              <a:t>Checks if login details are correct</a:t>
            </a:r>
          </a:p>
          <a:p>
            <a:r>
              <a:rPr lang="en-US" dirty="0"/>
              <a:t>Calculates total price</a:t>
            </a:r>
          </a:p>
          <a:p>
            <a:r>
              <a:rPr lang="en-US" dirty="0"/>
              <a:t>Applies discounts or taxes</a:t>
            </a:r>
          </a:p>
          <a:p>
            <a:r>
              <a:rPr lang="en-US" dirty="0"/>
              <a:t>Confirms payment</a:t>
            </a:r>
            <a:br>
              <a:rPr lang="en-US" dirty="0"/>
            </a:br>
            <a:r>
              <a:rPr lang="en-US" dirty="0"/>
              <a:t>Backend = manager + staff working behind the counter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4864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1774E-DAB6-0F15-7E56-A387415E9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5C46C-9B57-D95B-D583-F1E249B20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(Database)</a:t>
            </a:r>
          </a:p>
          <a:p>
            <a:r>
              <a:rPr lang="en-US" dirty="0"/>
              <a:t>This is where information is stored safely.</a:t>
            </a:r>
          </a:p>
          <a:p>
            <a:r>
              <a:rPr lang="en-US" dirty="0"/>
              <a:t>Examples of stored data:</a:t>
            </a:r>
          </a:p>
          <a:p>
            <a:r>
              <a:rPr lang="en-US" dirty="0"/>
              <a:t>Customer details</a:t>
            </a:r>
          </a:p>
          <a:p>
            <a:r>
              <a:rPr lang="en-US" dirty="0"/>
              <a:t>Orders and payments</a:t>
            </a:r>
          </a:p>
          <a:p>
            <a:r>
              <a:rPr lang="en-US" dirty="0"/>
              <a:t>Products and prices</a:t>
            </a:r>
          </a:p>
          <a:p>
            <a:r>
              <a:rPr lang="en-US" dirty="0"/>
              <a:t>Sales records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5695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F49DC-4C5E-7A43-BAF2-F6C213FF8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2C371-0379-ADF9-B88C-41D99984E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Result (Output)</a:t>
            </a:r>
          </a:p>
          <a:p>
            <a:r>
              <a:rPr lang="en-US" dirty="0"/>
              <a:t>After processing the data, the system sends a </a:t>
            </a:r>
            <a:r>
              <a:rPr lang="en-US" b="1" dirty="0"/>
              <a:t>result</a:t>
            </a:r>
            <a:r>
              <a:rPr lang="en-US" dirty="0"/>
              <a:t> back to the app.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“Order placed successfully”</a:t>
            </a:r>
          </a:p>
          <a:p>
            <a:r>
              <a:rPr lang="en-US" dirty="0"/>
              <a:t>Invoice or receipt</a:t>
            </a:r>
          </a:p>
          <a:p>
            <a:r>
              <a:rPr lang="en-US" dirty="0"/>
              <a:t>Order status (confirmed / delivered)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7897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57A0F-C65E-399D-F61C-A25B93E52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Online Shopping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6C033-451D-6C8C-8143-079C197CA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4000" dirty="0"/>
              <a:t>User selects a product and clicks Buy</a:t>
            </a:r>
          </a:p>
          <a:p>
            <a:r>
              <a:rPr lang="en-US" sz="4000" dirty="0"/>
              <a:t>Frontend sends order details to the system</a:t>
            </a:r>
          </a:p>
          <a:p>
            <a:pPr marL="0" indent="0">
              <a:buNone/>
            </a:pPr>
            <a:r>
              <a:rPr lang="en-US" sz="4000" dirty="0"/>
              <a:t>Backend:</a:t>
            </a:r>
          </a:p>
          <a:p>
            <a:pPr lvl="1"/>
            <a:r>
              <a:rPr lang="en-US" sz="3400" dirty="0"/>
              <a:t>Checks stock</a:t>
            </a:r>
          </a:p>
          <a:p>
            <a:pPr lvl="1"/>
            <a:r>
              <a:rPr lang="en-US" sz="3400" dirty="0"/>
              <a:t>Calculates price</a:t>
            </a:r>
          </a:p>
          <a:p>
            <a:pPr lvl="1"/>
            <a:r>
              <a:rPr lang="en-US" sz="3400" dirty="0"/>
              <a:t>Processes payment</a:t>
            </a:r>
          </a:p>
          <a:p>
            <a:pPr marL="0" indent="0">
              <a:buNone/>
            </a:pPr>
            <a:r>
              <a:rPr lang="en-US" sz="4000" dirty="0"/>
              <a:t>Database:</a:t>
            </a:r>
          </a:p>
          <a:p>
            <a:pPr lvl="1"/>
            <a:r>
              <a:rPr lang="en-US" sz="2900" dirty="0"/>
              <a:t>Saves order details</a:t>
            </a:r>
          </a:p>
          <a:p>
            <a:pPr lvl="1"/>
            <a:r>
              <a:rPr lang="en-US" sz="2900" dirty="0"/>
              <a:t>Updates inventory</a:t>
            </a:r>
          </a:p>
          <a:p>
            <a:pPr marL="0" indent="0">
              <a:buNone/>
            </a:pPr>
            <a:r>
              <a:rPr lang="en-US" sz="4000" dirty="0"/>
              <a:t>Result:</a:t>
            </a:r>
          </a:p>
          <a:p>
            <a:pPr lvl="1"/>
            <a:r>
              <a:rPr lang="en-US" sz="3400" dirty="0"/>
              <a:t>Order confirmation shown to user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4470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675F6-F3CE-E368-1397-16ED9297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Browser vs Search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45574-0F44-5922-CFD3-C5E71305B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Web Browser</a:t>
            </a:r>
          </a:p>
          <a:p>
            <a:r>
              <a:rPr lang="en-US" dirty="0"/>
              <a:t>A web browser is a software application used to open and view websites and web apps.</a:t>
            </a:r>
          </a:p>
          <a:p>
            <a:r>
              <a:rPr lang="en-US" dirty="0"/>
              <a:t>Examples of Web Browsers:</a:t>
            </a:r>
          </a:p>
          <a:p>
            <a:r>
              <a:rPr lang="en-US" dirty="0"/>
              <a:t>Google Chrome</a:t>
            </a:r>
          </a:p>
          <a:p>
            <a:r>
              <a:rPr lang="en-US" dirty="0"/>
              <a:t>Safari</a:t>
            </a:r>
          </a:p>
          <a:p>
            <a:r>
              <a:rPr lang="en-US" dirty="0"/>
              <a:t>Mozilla Firefox</a:t>
            </a:r>
          </a:p>
          <a:p>
            <a:r>
              <a:rPr lang="en-US" dirty="0"/>
              <a:t>Microsoft Edge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8CC4EC-46DD-051D-DF51-FE95B9E55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300266" y="3429000"/>
            <a:ext cx="1422440" cy="13572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1D82EA-DDAF-C6A6-E572-7C2F90FBFA3E}"/>
              </a:ext>
            </a:extLst>
          </p:cNvPr>
          <p:cNvSpPr txBox="1"/>
          <p:nvPr/>
        </p:nvSpPr>
        <p:spPr>
          <a:xfrm>
            <a:off x="4403008" y="4872379"/>
            <a:ext cx="142244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hlinkClick r:id="rId3" tooltip="https://freepngimg.com/png/66776-google-computer-icons-chrome-scalable-vector-graphics"/>
              </a:rPr>
              <a:t>This Photo</a:t>
            </a:r>
            <a:r>
              <a:rPr lang="en-US" sz="900" dirty="0"/>
              <a:t> by Unknown Author is licensed under </a:t>
            </a:r>
            <a:r>
              <a:rPr lang="en-US" sz="900" dirty="0">
                <a:hlinkClick r:id="rId4" tooltip="https://creativecommons.org/licenses/by-nc/3.0/"/>
              </a:rPr>
              <a:t>CC BY-NC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E4B187-A0ED-BFC1-3C9A-58B7CEF43F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6253216" y="3429000"/>
            <a:ext cx="1514035" cy="15140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E95DE5-9358-0940-B22D-45C306F654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8280506" y="3498992"/>
            <a:ext cx="1514035" cy="14440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86B3D5-75F2-84BC-E592-3DF901A4F282}"/>
              </a:ext>
            </a:extLst>
          </p:cNvPr>
          <p:cNvSpPr txBox="1"/>
          <p:nvPr/>
        </p:nvSpPr>
        <p:spPr>
          <a:xfrm>
            <a:off x="8472445" y="4943035"/>
            <a:ext cx="1514035" cy="503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hlinkClick r:id="rId8" tooltip="http://de.wikipedia.org/wiki/Datei:Mozilla_Firefox_Logo.png"/>
              </a:rPr>
              <a:t>This Photo</a:t>
            </a:r>
            <a:r>
              <a:rPr lang="en-US" sz="900" dirty="0"/>
              <a:t> by Unknown Author is licensed under </a:t>
            </a:r>
            <a:r>
              <a:rPr lang="en-US" sz="900" dirty="0">
                <a:hlinkClick r:id="rId9" tooltip="https://creativecommons.org/licenses/by-sa/3.0/"/>
              </a:rPr>
              <a:t>CC BY-SA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8CBA27-D24C-2EAD-032A-C76C54D359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10170975" y="3463995"/>
            <a:ext cx="1514035" cy="151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9769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761E-DF74-7822-6BC8-64F8FE58D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B4240-6CA6-15D1-E7E6-FA3F368CB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search engine is a website/service that helps users search for information on the internet.</a:t>
            </a:r>
          </a:p>
          <a:p>
            <a:r>
              <a:rPr lang="en-US" dirty="0"/>
              <a:t>Examples of Search Engines:</a:t>
            </a:r>
          </a:p>
          <a:p>
            <a:r>
              <a:rPr lang="en-US" dirty="0"/>
              <a:t>Google</a:t>
            </a:r>
          </a:p>
          <a:p>
            <a:r>
              <a:rPr lang="en-US" dirty="0"/>
              <a:t>Bing</a:t>
            </a:r>
          </a:p>
          <a:p>
            <a:r>
              <a:rPr lang="en-US" dirty="0"/>
              <a:t>Yahoo</a:t>
            </a:r>
          </a:p>
          <a:p>
            <a:r>
              <a:rPr lang="en-US" dirty="0"/>
              <a:t>DuckDuckGo</a:t>
            </a:r>
          </a:p>
          <a:p>
            <a:r>
              <a:rPr lang="en-US" dirty="0"/>
              <a:t>Google is a search engine, but it runs inside a web browser like Chrome or Safari.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41E049-CC6A-2A10-1393-64ECD3894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750067" y="2922142"/>
            <a:ext cx="1219200" cy="1219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18E318-FE6D-A311-AC64-C35C62130C52}"/>
              </a:ext>
            </a:extLst>
          </p:cNvPr>
          <p:cNvSpPr txBox="1"/>
          <p:nvPr/>
        </p:nvSpPr>
        <p:spPr>
          <a:xfrm>
            <a:off x="3750067" y="4141342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wiki.miranda-ng.org/index.php?title=File:Yahoo_logo.png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408E18-FABF-CCFB-36D4-00CD5EF1A7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5592567" y="3031736"/>
            <a:ext cx="1109606" cy="11096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EC40AD-F310-3906-CF6D-5300E0853B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7402460" y="2976939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3875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24A9D-FB9D-09BC-FA09-A6C5C6DAD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Design a Business App : Step 1: Define Your Goal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36FD7-4689-E62E-334C-D2523C8A6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 we need this app?</a:t>
            </a:r>
          </a:p>
          <a:p>
            <a:r>
              <a:rPr lang="en-US" dirty="0"/>
              <a:t>What problem will it solve for customers or business?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Food delivery : make ordering faster</a:t>
            </a:r>
          </a:p>
          <a:p>
            <a:r>
              <a:rPr lang="en-US" dirty="0"/>
              <a:t>Retail store : allow online shopping</a:t>
            </a:r>
          </a:p>
          <a:p>
            <a:r>
              <a:rPr lang="en-US" dirty="0"/>
              <a:t>Event management : let customers book and pay online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3873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BBDCA-901C-EFE2-D26B-BDF8F6950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Identify Your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0CBF5-0759-0250-C1F7-8E0A56282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Who will use the app?</a:t>
            </a:r>
          </a:p>
          <a:p>
            <a:r>
              <a:rPr lang="en-US" dirty="0"/>
              <a:t>Customers</a:t>
            </a:r>
          </a:p>
          <a:p>
            <a:r>
              <a:rPr lang="en-US" dirty="0"/>
              <a:t>Employees</a:t>
            </a:r>
          </a:p>
          <a:p>
            <a:r>
              <a:rPr lang="en-US" dirty="0"/>
              <a:t>Vendors</a:t>
            </a:r>
          </a:p>
          <a:p>
            <a:pPr marL="0" indent="0">
              <a:buNone/>
            </a:pPr>
            <a:r>
              <a:rPr lang="en-US" dirty="0"/>
              <a:t>What devices will they use?</a:t>
            </a:r>
          </a:p>
          <a:p>
            <a:r>
              <a:rPr lang="en-US" dirty="0"/>
              <a:t>Mobile phones</a:t>
            </a:r>
          </a:p>
          <a:p>
            <a:r>
              <a:rPr lang="en-US" dirty="0"/>
              <a:t>Web browser</a:t>
            </a:r>
          </a:p>
          <a:p>
            <a:r>
              <a:rPr lang="en-US" dirty="0"/>
              <a:t>Tablets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7414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3C20D-E2EE-08A6-84C3-7E152BF69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Common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5D48E-6AD7-8024-56E9-6A01049A8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Make a list of </a:t>
            </a:r>
            <a:r>
              <a:rPr lang="en-US" b="1" dirty="0"/>
              <a:t>what the app should do</a:t>
            </a:r>
            <a:r>
              <a:rPr lang="en-US" dirty="0"/>
              <a:t>. Focus on </a:t>
            </a:r>
            <a:r>
              <a:rPr lang="en-US" b="1" dirty="0"/>
              <a:t>business value</a:t>
            </a:r>
            <a:r>
              <a:rPr lang="en-US" dirty="0"/>
              <a:t> first.</a:t>
            </a:r>
          </a:p>
          <a:p>
            <a:r>
              <a:rPr lang="en-US" b="1" dirty="0"/>
              <a:t>Common Features:</a:t>
            </a:r>
          </a:p>
          <a:p>
            <a:r>
              <a:rPr lang="en-US" dirty="0"/>
              <a:t>Registration &amp; login</a:t>
            </a:r>
          </a:p>
          <a:p>
            <a:r>
              <a:rPr lang="en-US" dirty="0"/>
              <a:t>Product/service listing</a:t>
            </a:r>
          </a:p>
          <a:p>
            <a:r>
              <a:rPr lang="en-US" dirty="0"/>
              <a:t>Cart &amp; checkout (for e-commerce)</a:t>
            </a:r>
          </a:p>
          <a:p>
            <a:r>
              <a:rPr lang="en-US" dirty="0"/>
              <a:t>Payment integration</a:t>
            </a:r>
          </a:p>
          <a:p>
            <a:r>
              <a:rPr lang="en-US" dirty="0"/>
              <a:t>Notifications (offers, alerts)</a:t>
            </a:r>
          </a:p>
          <a:p>
            <a:r>
              <a:rPr lang="en-US" dirty="0"/>
              <a:t>Reporting (for business insights)</a:t>
            </a:r>
          </a:p>
          <a:p>
            <a:r>
              <a:rPr lang="en-US" b="1" dirty="0"/>
              <a:t>Business Example: </a:t>
            </a:r>
            <a:r>
              <a:rPr lang="en-US" dirty="0"/>
              <a:t>Bakery app: order cakes, track delivery, pay online, receive promotions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1628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FDEE0-AE3F-FD11-AB24-D5643E398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Choose Platform / Type of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28D83-8ADD-B349-4837-1C21DFA35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Decide how users will access your app: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29E5ED-1CFA-39D5-BACA-E66B25B8B6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530364"/>
              </p:ext>
            </p:extLst>
          </p:nvPr>
        </p:nvGraphicFramePr>
        <p:xfrm>
          <a:off x="1451579" y="2692467"/>
          <a:ext cx="9604374" cy="2651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802187">
                  <a:extLst>
                    <a:ext uri="{9D8B030D-6E8A-4147-A177-3AD203B41FA5}">
                      <a16:colId xmlns:a16="http://schemas.microsoft.com/office/drawing/2014/main" val="2375339909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36635842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When to Choose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793957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Mobile 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Most users have smartphones, need notifications &amp; convenience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245028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Web 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Users can access from any device, no installation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7871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Fast &amp; smooth experience (like Amazon, Facebook)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271016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Desktop 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For internal staff or offices, less for customers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558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17998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21D48-A4C4-C486-2C0E-6B402432B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5: Design User Interface (Frontend)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82855-9758-4F3B-A72A-50AF660BA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Sketch the screens (paper or tools like Figma/Canva)</a:t>
            </a:r>
          </a:p>
          <a:p>
            <a:r>
              <a:rPr lang="en-US" dirty="0"/>
              <a:t>Decide layout, colors, buttons, and menus</a:t>
            </a:r>
          </a:p>
          <a:p>
            <a:r>
              <a:rPr lang="en-US" dirty="0"/>
              <a:t>Focus on easy navigation for users</a:t>
            </a:r>
          </a:p>
          <a:p>
            <a:r>
              <a:rPr lang="en-US" b="1" dirty="0"/>
              <a:t>Analogy:</a:t>
            </a:r>
            <a:r>
              <a:rPr lang="en-US" dirty="0"/>
              <a:t> Frontend = “restaurant menu”  customer should easily choose items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7172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D0453-C8F2-1456-7938-9FC52F22C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6: Decide Backend &amp; Data (Server + Database)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28ACE-A7C5-F56E-8C75-8981AD58C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Backend: Handles business rules (calculations, order processing, authentication)</a:t>
            </a:r>
          </a:p>
          <a:p>
            <a:r>
              <a:rPr lang="en-US" dirty="0"/>
              <a:t>Database: Stores all data (users, orders, products, transactions)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Inventory app - backend updates stock after every sale</a:t>
            </a:r>
          </a:p>
          <a:p>
            <a:r>
              <a:rPr lang="en-US" dirty="0"/>
              <a:t>Customer app - database stores order history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6851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80FAF-37C7-F814-A4D2-2E7D72A42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462A2-51BF-D8ED-C1B9-F370B2AB0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Step 7: Connect Frontend &amp; Backend</a:t>
            </a:r>
          </a:p>
          <a:p>
            <a:r>
              <a:rPr lang="en-US" dirty="0"/>
              <a:t>Frontend (what user sees) communicates with backend (server) via APIs</a:t>
            </a:r>
          </a:p>
          <a:p>
            <a:r>
              <a:rPr lang="en-US" dirty="0"/>
              <a:t>Example: Customer clicks “Buy” - Backend checks stock - Database updates - Confirmation shown</a:t>
            </a:r>
          </a:p>
          <a:p>
            <a:r>
              <a:rPr lang="en-US" b="1" dirty="0"/>
              <a:t>Step 8 : Test Your App</a:t>
            </a:r>
          </a:p>
          <a:p>
            <a:r>
              <a:rPr lang="en-US" dirty="0"/>
              <a:t>Test if all features work correctly</a:t>
            </a:r>
          </a:p>
          <a:p>
            <a:r>
              <a:rPr lang="en-US" dirty="0"/>
              <a:t>Make sure it’s easy to use</a:t>
            </a:r>
          </a:p>
          <a:p>
            <a:r>
              <a:rPr lang="en-US" dirty="0"/>
              <a:t>Fix bugs before launching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1751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ED68-583B-8A43-1931-645DA13B7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26656-441A-CA16-B645-F14CAC829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9: Launch &amp; Promote</a:t>
            </a:r>
          </a:p>
          <a:p>
            <a:r>
              <a:rPr lang="en-US" dirty="0"/>
              <a:t>Launch on app stores (Google Play / App Store) or website</a:t>
            </a:r>
          </a:p>
          <a:p>
            <a:r>
              <a:rPr lang="en-US" dirty="0"/>
              <a:t>Promote to your customers: social media, emails, in-store ads</a:t>
            </a:r>
          </a:p>
          <a:p>
            <a:r>
              <a:rPr lang="en-US" b="1" dirty="0"/>
              <a:t>Step 10: Monitor &amp; Improve</a:t>
            </a:r>
          </a:p>
          <a:p>
            <a:r>
              <a:rPr lang="en-US" dirty="0"/>
              <a:t>Track usage, feedback, and sales</a:t>
            </a:r>
          </a:p>
          <a:p>
            <a:r>
              <a:rPr lang="en-US" dirty="0"/>
              <a:t>Update app regularly to add features or fix issues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28944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604</TotalTime>
  <Words>1724</Words>
  <Application>Microsoft Office PowerPoint</Application>
  <PresentationFormat>Widescreen</PresentationFormat>
  <Paragraphs>265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Gill Sans MT</vt:lpstr>
      <vt:lpstr>Gallery</vt:lpstr>
      <vt:lpstr>PowerPoint Presentation</vt:lpstr>
      <vt:lpstr>About Me</vt:lpstr>
      <vt:lpstr>Course Introduction</vt:lpstr>
      <vt:lpstr>Grading Criteria</vt:lpstr>
      <vt:lpstr>Lecture : 01</vt:lpstr>
      <vt:lpstr>What is an Application?</vt:lpstr>
      <vt:lpstr>Web Applications</vt:lpstr>
      <vt:lpstr>Mobile Application</vt:lpstr>
      <vt:lpstr>Why Businesses Prefer Mobile Apps?</vt:lpstr>
      <vt:lpstr>Desktop applications</vt:lpstr>
      <vt:lpstr>Enterprise Applications</vt:lpstr>
      <vt:lpstr>E-Commerce applications</vt:lpstr>
      <vt:lpstr>Single Page Applications</vt:lpstr>
      <vt:lpstr>Why businesses like SPA</vt:lpstr>
      <vt:lpstr>Role of Digital Applications in Modern Business</vt:lpstr>
      <vt:lpstr>Cont…</vt:lpstr>
      <vt:lpstr>Cont…</vt:lpstr>
      <vt:lpstr>Cont…</vt:lpstr>
      <vt:lpstr>Languages:</vt:lpstr>
      <vt:lpstr>Cont…</vt:lpstr>
      <vt:lpstr>How Applications Work?</vt:lpstr>
      <vt:lpstr>Cont…</vt:lpstr>
      <vt:lpstr>Cont…</vt:lpstr>
      <vt:lpstr>Cont…</vt:lpstr>
      <vt:lpstr>Cont…</vt:lpstr>
      <vt:lpstr>Example: Online Shopping example</vt:lpstr>
      <vt:lpstr>Browser vs Search Engine</vt:lpstr>
      <vt:lpstr>Search Engine</vt:lpstr>
      <vt:lpstr>How to Design a Business App : Step 1: Define Your Goal </vt:lpstr>
      <vt:lpstr>Step 2: Identify Your Users</vt:lpstr>
      <vt:lpstr>Step 3: Common Features</vt:lpstr>
      <vt:lpstr>Step 4: Choose Platform / Type of App</vt:lpstr>
      <vt:lpstr>Step 5: Design User Interface (Frontend)</vt:lpstr>
      <vt:lpstr>Step 6: Decide Backend &amp; Data (Server + Database)</vt:lpstr>
      <vt:lpstr>Cont…</vt:lpstr>
      <vt:lpstr>Cont…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Asad Javed</dc:creator>
  <cp:lastModifiedBy>Asad Javed</cp:lastModifiedBy>
  <cp:revision>107</cp:revision>
  <dcterms:created xsi:type="dcterms:W3CDTF">2025-09-12T12:30:33Z</dcterms:created>
  <dcterms:modified xsi:type="dcterms:W3CDTF">2026-02-05T14:08:26Z</dcterms:modified>
</cp:coreProperties>
</file>