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8"/>
  </p:notesMasterIdLst>
  <p:sldIdLst>
    <p:sldId id="256" r:id="rId2"/>
    <p:sldId id="261" r:id="rId3"/>
    <p:sldId id="262" r:id="rId4"/>
    <p:sldId id="268" r:id="rId5"/>
    <p:sldId id="263" r:id="rId6"/>
    <p:sldId id="264" r:id="rId7"/>
    <p:sldId id="265" r:id="rId8"/>
    <p:sldId id="266" r:id="rId9"/>
    <p:sldId id="269" r:id="rId10"/>
    <p:sldId id="270" r:id="rId11"/>
    <p:sldId id="271" r:id="rId12"/>
    <p:sldId id="272" r:id="rId13"/>
    <p:sldId id="273" r:id="rId14"/>
    <p:sldId id="267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04BD0D-F377-4BB2-950B-0ABDBF7025C3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437254-F8D8-44B7-8D96-0638D1688C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879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BB4F6-8B81-41C3-9539-DA183A3106B0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BD5B2FB1-21CF-44EC-BACA-C9E85D237C61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5684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BB4F6-8B81-41C3-9539-DA183A3106B0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B2FB1-21CF-44EC-BACA-C9E85D237C61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1964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BB4F6-8B81-41C3-9539-DA183A3106B0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B2FB1-21CF-44EC-BACA-C9E85D237C61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3616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BB4F6-8B81-41C3-9539-DA183A3106B0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B2FB1-21CF-44EC-BACA-C9E85D237C61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8701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BB4F6-8B81-41C3-9539-DA183A3106B0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B2FB1-21CF-44EC-BACA-C9E85D237C61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4697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BB4F6-8B81-41C3-9539-DA183A3106B0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B2FB1-21CF-44EC-BACA-C9E85D237C61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0206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BB4F6-8B81-41C3-9539-DA183A3106B0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B2FB1-21CF-44EC-BACA-C9E85D237C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957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BB4F6-8B81-41C3-9539-DA183A3106B0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B2FB1-21CF-44EC-BACA-C9E85D237C61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5625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B41BB4F6-8B81-41C3-9539-DA183A3106B0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B2FB1-21CF-44EC-BACA-C9E85D237C61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7900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BB4F6-8B81-41C3-9539-DA183A3106B0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B2FB1-21CF-44EC-BACA-C9E85D237C61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1929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BB4F6-8B81-41C3-9539-DA183A3106B0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B2FB1-21CF-44EC-BACA-C9E85D237C61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9013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1BB4F6-8B81-41C3-9539-DA183A3106B0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BD5B2FB1-21CF-44EC-BACA-C9E85D237C6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5681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E0388-B079-A389-5EBE-C58E485673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60573A-2BBC-EE84-71B3-8B9EF27588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CD68E3-D30D-AA20-48F4-C569A026AA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955" y="788918"/>
            <a:ext cx="11132090" cy="37049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69265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3181C-59EE-16DB-00C9-737771AE8E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Lecture : 04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CF6595-6D7A-271E-1DC9-E6C569455F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Introduction to Html</a:t>
            </a:r>
          </a:p>
        </p:txBody>
      </p:sp>
    </p:spTree>
    <p:extLst>
      <p:ext uri="{BB962C8B-B14F-4D97-AF65-F5344CB8AC3E}">
        <p14:creationId xmlns:p14="http://schemas.microsoft.com/office/powerpoint/2010/main" val="789811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61448-447D-6AFD-7023-7325FFB93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html?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92DE7-4F16-6320-7982-6EEB631B7C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HTML stands for </a:t>
            </a:r>
            <a:r>
              <a:rPr lang="en-US" dirty="0" err="1"/>
              <a:t>HyperText</a:t>
            </a:r>
            <a:r>
              <a:rPr lang="en-US" dirty="0"/>
              <a:t> Markup Language.</a:t>
            </a:r>
          </a:p>
          <a:p>
            <a:r>
              <a:rPr lang="en-US" dirty="0"/>
              <a:t>It is the standard language used to create and structure web pages.</a:t>
            </a:r>
          </a:p>
          <a:p>
            <a:r>
              <a:rPr lang="en-US" dirty="0"/>
              <a:t>HTML is not a programming language, it is a markup language.</a:t>
            </a:r>
          </a:p>
          <a:p>
            <a:r>
              <a:rPr lang="en-US" dirty="0"/>
              <a:t>Role in Web Development:</a:t>
            </a:r>
          </a:p>
          <a:p>
            <a:r>
              <a:rPr lang="en-US" dirty="0"/>
              <a:t>HTML forms the foundation of a website.</a:t>
            </a:r>
          </a:p>
          <a:p>
            <a:r>
              <a:rPr lang="en-US" dirty="0"/>
              <a:t>CSS (Cascading Style Sheets) is used to style the HTML.</a:t>
            </a:r>
          </a:p>
          <a:p>
            <a:r>
              <a:rPr lang="en-US" dirty="0"/>
              <a:t>JavaScript is used to make the HTML interactive.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0256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0E502-6867-978C-B71F-3CE8606E1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is the Foundation of Every Website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0ECA8-F98F-2830-21C7-C603DBB4E4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HTML (</a:t>
            </a:r>
            <a:r>
              <a:rPr lang="en-US" b="1" dirty="0" err="1"/>
              <a:t>HyperText</a:t>
            </a:r>
            <a:r>
              <a:rPr lang="en-US" b="1" dirty="0"/>
              <a:t> Markup Language)</a:t>
            </a:r>
            <a:r>
              <a:rPr lang="en-US" dirty="0"/>
              <a:t> provides the </a:t>
            </a:r>
            <a:r>
              <a:rPr lang="en-US" b="1" dirty="0"/>
              <a:t>basic structure</a:t>
            </a:r>
            <a:r>
              <a:rPr lang="en-US" dirty="0"/>
              <a:t> of a web page.</a:t>
            </a:r>
          </a:p>
          <a:p>
            <a:r>
              <a:rPr lang="en-US" dirty="0"/>
              <a:t>HTML allows:</a:t>
            </a:r>
          </a:p>
          <a:p>
            <a:r>
              <a:rPr lang="en-US" dirty="0"/>
              <a:t>Sending form data to a server</a:t>
            </a:r>
          </a:p>
          <a:p>
            <a:r>
              <a:rPr lang="en-US" dirty="0"/>
              <a:t>Connecting to databases through backend systems</a:t>
            </a:r>
          </a:p>
          <a:p>
            <a:r>
              <a:rPr lang="en-US" dirty="0"/>
              <a:t>Displaying dynamic content</a:t>
            </a:r>
          </a:p>
          <a:p>
            <a:r>
              <a:rPr lang="en-US" dirty="0"/>
              <a:t>Screen readers understand content</a:t>
            </a:r>
          </a:p>
          <a:p>
            <a:r>
              <a:rPr lang="en-US" dirty="0"/>
              <a:t>Visually impaired users access websites</a:t>
            </a:r>
          </a:p>
          <a:p>
            <a:r>
              <a:rPr lang="en-US" dirty="0"/>
              <a:t>Proper content organization</a:t>
            </a:r>
          </a:p>
        </p:txBody>
      </p:sp>
    </p:spTree>
    <p:extLst>
      <p:ext uri="{BB962C8B-B14F-4D97-AF65-F5344CB8AC3E}">
        <p14:creationId xmlns:p14="http://schemas.microsoft.com/office/powerpoint/2010/main" val="4028478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031AA-5E6B-805B-AE08-4AEFBCF9E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 of an HTML Document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6582D-2E89-37F0-F5D0-6B85D43E48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proper HTML document has </a:t>
            </a:r>
            <a:r>
              <a:rPr lang="en-US" b="1" dirty="0"/>
              <a:t>three main parts</a:t>
            </a:r>
            <a:r>
              <a:rPr lang="en-US" dirty="0"/>
              <a:t>:</a:t>
            </a:r>
          </a:p>
          <a:p>
            <a:r>
              <a:rPr lang="en-US" b="1" dirty="0"/>
              <a:t>&lt;!DOCTYPE html&gt;</a:t>
            </a:r>
          </a:p>
          <a:p>
            <a:r>
              <a:rPr lang="en-US" dirty="0"/>
              <a:t>Declares the HTML version for the browser.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&lt;!DOCTYPE html&gt;</a:t>
            </a:r>
          </a:p>
          <a:p>
            <a:r>
              <a:rPr lang="en-US" dirty="0"/>
              <a:t>Explains that this is an HTML5 page.</a:t>
            </a:r>
          </a:p>
        </p:txBody>
      </p:sp>
    </p:spTree>
    <p:extLst>
      <p:ext uri="{BB962C8B-B14F-4D97-AF65-F5344CB8AC3E}">
        <p14:creationId xmlns:p14="http://schemas.microsoft.com/office/powerpoint/2010/main" val="16012412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0C143-419D-E75B-67C7-C3919F10C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</a:t>
            </a:r>
            <a:r>
              <a:rPr lang="en-US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6A0F7-9741-7550-18CF-7FFAA96F0F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&lt;html&gt; element</a:t>
            </a:r>
          </a:p>
          <a:p>
            <a:r>
              <a:rPr lang="en-US" dirty="0"/>
              <a:t>The </a:t>
            </a:r>
            <a:r>
              <a:rPr lang="en-US" b="1" dirty="0"/>
              <a:t>root element</a:t>
            </a:r>
            <a:r>
              <a:rPr lang="en-US" dirty="0"/>
              <a:t> of an HTML document.</a:t>
            </a:r>
          </a:p>
          <a:p>
            <a:r>
              <a:rPr lang="en-US" dirty="0"/>
              <a:t>All content of the page goes </a:t>
            </a:r>
            <a:r>
              <a:rPr lang="en-US" b="1" dirty="0"/>
              <a:t>inside</a:t>
            </a:r>
            <a:r>
              <a:rPr lang="en-US" dirty="0"/>
              <a:t> &lt;html&gt; and &lt;/html&gt; tags.</a:t>
            </a:r>
          </a:p>
          <a:p>
            <a:r>
              <a:rPr lang="en-US" dirty="0"/>
              <a:t>&lt;html&gt;</a:t>
            </a:r>
          </a:p>
          <a:p>
            <a:r>
              <a:rPr lang="en-US" dirty="0"/>
              <a:t>  &lt;!-- All page content here --&gt;</a:t>
            </a:r>
          </a:p>
          <a:p>
            <a:r>
              <a:rPr lang="en-US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819736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67B93-956F-5E6C-95BA-BC6CA047E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</a:t>
            </a:r>
            <a:r>
              <a:rPr lang="en-US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BA5422-6EC7-DF6B-8C7A-44CB4851B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&lt;head&gt; section</a:t>
            </a:r>
          </a:p>
          <a:p>
            <a:r>
              <a:rPr lang="en-US" dirty="0"/>
              <a:t>Contains </a:t>
            </a:r>
            <a:r>
              <a:rPr lang="en-US" b="1" dirty="0"/>
              <a:t>metadata</a:t>
            </a:r>
            <a:r>
              <a:rPr lang="en-US" dirty="0"/>
              <a:t> and information </a:t>
            </a:r>
            <a:r>
              <a:rPr lang="en-US" b="1" dirty="0"/>
              <a:t>not visible directly on the web page</a:t>
            </a:r>
            <a:r>
              <a:rPr lang="en-US" dirty="0"/>
              <a:t>.</a:t>
            </a:r>
          </a:p>
          <a:p>
            <a:r>
              <a:rPr lang="en-US" dirty="0"/>
              <a:t>Typical elements inside &lt;head&gt;: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FCEBD3B-8661-DEC3-6EED-6CDD3235C1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3086178"/>
              </p:ext>
            </p:extLst>
          </p:nvPr>
        </p:nvGraphicFramePr>
        <p:xfrm>
          <a:off x="1656458" y="3637545"/>
          <a:ext cx="9604374" cy="1828800"/>
        </p:xfrm>
        <a:graphic>
          <a:graphicData uri="http://schemas.openxmlformats.org/drawingml/2006/table">
            <a:tbl>
              <a:tblPr/>
              <a:tblGrid>
                <a:gridCol w="4802187">
                  <a:extLst>
                    <a:ext uri="{9D8B030D-6E8A-4147-A177-3AD203B41FA5}">
                      <a16:colId xmlns:a16="http://schemas.microsoft.com/office/drawing/2014/main" val="1475654080"/>
                    </a:ext>
                  </a:extLst>
                </a:gridCol>
                <a:gridCol w="4802187">
                  <a:extLst>
                    <a:ext uri="{9D8B030D-6E8A-4147-A177-3AD203B41FA5}">
                      <a16:colId xmlns:a16="http://schemas.microsoft.com/office/drawing/2014/main" val="58668603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Tag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895091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ourier New" panose="02070309020205020404" pitchFamily="49" charset="0"/>
                        </a:rPr>
                        <a:t>&lt;title&gt;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Page title shown on browser tab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58754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ourier New" panose="02070309020205020404" pitchFamily="49" charset="0"/>
                        </a:rPr>
                        <a:t>&lt;meta&gt;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Metadata like character set and viewport settings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979817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ourier New" panose="02070309020205020404" pitchFamily="49" charset="0"/>
                        </a:rPr>
                        <a:t>&lt;link&gt;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Link to external CSS files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22683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ourier New" panose="02070309020205020404" pitchFamily="49" charset="0"/>
                        </a:rPr>
                        <a:t>&lt;script&gt;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Link to external JavaScript files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33308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62296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85A7A-1D84-61D4-A610-A486EFD03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</a:t>
            </a:r>
            <a:r>
              <a:rPr lang="en-US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BDAF8-08B3-E707-FEF3-CF6552D6EB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&lt;body&gt; section</a:t>
            </a:r>
          </a:p>
          <a:p>
            <a:r>
              <a:rPr lang="en-US" dirty="0"/>
              <a:t>Contains all content visible on the web page.</a:t>
            </a:r>
          </a:p>
          <a:p>
            <a:r>
              <a:rPr lang="en-US" dirty="0"/>
              <a:t>Examples of content inside &lt;body&gt;:</a:t>
            </a:r>
          </a:p>
          <a:p>
            <a:pPr lvl="1"/>
            <a:r>
              <a:rPr lang="en-US" dirty="0"/>
              <a:t>Headings &lt;h1&gt; to &lt;h6&gt;</a:t>
            </a:r>
          </a:p>
          <a:p>
            <a:pPr lvl="1"/>
            <a:r>
              <a:rPr lang="en-US" dirty="0"/>
              <a:t>Paragraphs &lt;p&gt;</a:t>
            </a:r>
          </a:p>
          <a:p>
            <a:pPr lvl="1"/>
            <a:r>
              <a:rPr lang="en-US" dirty="0"/>
              <a:t>Images &lt;</a:t>
            </a:r>
            <a:r>
              <a:rPr lang="en-US" dirty="0" err="1"/>
              <a:t>img</a:t>
            </a:r>
            <a:r>
              <a:rPr lang="en-US" dirty="0"/>
              <a:t>&gt;</a:t>
            </a:r>
          </a:p>
          <a:p>
            <a:pPr lvl="1"/>
            <a:r>
              <a:rPr lang="en-US" dirty="0"/>
              <a:t>Lists &lt;ul&gt;, &lt;</a:t>
            </a:r>
            <a:r>
              <a:rPr lang="en-US" dirty="0" err="1"/>
              <a:t>ol</a:t>
            </a:r>
            <a:r>
              <a:rPr lang="en-US" dirty="0"/>
              <a:t>&gt;</a:t>
            </a:r>
          </a:p>
          <a:p>
            <a:pPr lvl="1"/>
            <a:r>
              <a:rPr lang="en-US" dirty="0"/>
              <a:t>Forms &lt;form&gt;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5CCE2F-17EB-A737-FB60-BB1FD80347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3987" y="3896058"/>
            <a:ext cx="5686434" cy="1164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971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D692D-8F5A-6EA4-439F-099A94460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Headings in HTML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FF10B-1C5C-7089-CFA6-65647F4361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Headings are used to define </a:t>
            </a:r>
            <a:r>
              <a:rPr lang="en-US" b="1" dirty="0"/>
              <a:t>titles and subtitles</a:t>
            </a:r>
            <a:r>
              <a:rPr lang="en-US" dirty="0"/>
              <a:t> on a webpage.</a:t>
            </a:r>
          </a:p>
          <a:p>
            <a:r>
              <a:rPr lang="en-US" dirty="0"/>
              <a:t>HTML provides </a:t>
            </a:r>
            <a:r>
              <a:rPr lang="en-US" b="1" dirty="0"/>
              <a:t>6 levels of headings</a:t>
            </a:r>
            <a:r>
              <a:rPr lang="en-US" dirty="0"/>
              <a:t>: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B3003A-2D84-B89B-8F76-22FD73C994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0957" y="3128888"/>
            <a:ext cx="4170041" cy="249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4097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36CB7-018D-D8CE-255B-C75E98F30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Paragraphs in HTML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FE84E-AA93-954B-B69F-069A5D3C06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Paragraphs are used to write text content.</a:t>
            </a:r>
          </a:p>
          <a:p>
            <a:r>
              <a:rPr lang="en-US" dirty="0"/>
              <a:t>Syntax:   &lt;p&gt;This is a paragraph.&lt;/p&gt;</a:t>
            </a:r>
          </a:p>
          <a:p>
            <a:r>
              <a:rPr lang="en-US" dirty="0"/>
              <a:t>Example:  &lt;p&gt;We provide high-quality marketing solutions to grow your business.&lt;/p&gt;</a:t>
            </a:r>
          </a:p>
          <a:p>
            <a:r>
              <a:rPr lang="en-US" dirty="0"/>
              <a:t>Each &lt;p&gt; creates a new paragraph.</a:t>
            </a:r>
          </a:p>
          <a:p>
            <a:r>
              <a:rPr lang="en-US" dirty="0"/>
              <a:t>Browser automatically adds space above and below.</a:t>
            </a:r>
          </a:p>
          <a:p>
            <a:r>
              <a:rPr lang="en-US" dirty="0"/>
              <a:t>Used for descriptions, company information, product details.</a:t>
            </a:r>
          </a:p>
        </p:txBody>
      </p:sp>
    </p:spTree>
    <p:extLst>
      <p:ext uri="{BB962C8B-B14F-4D97-AF65-F5344CB8AC3E}">
        <p14:creationId xmlns:p14="http://schemas.microsoft.com/office/powerpoint/2010/main" val="42187124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6DCDF-FCDB-99FE-AE07-853A837C7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Links in HTML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D2E37-8A04-858B-B5E9-D18955C4C0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Links connect one page to another or connect to external websites.</a:t>
            </a:r>
          </a:p>
          <a:p>
            <a:r>
              <a:rPr lang="en-US" dirty="0"/>
              <a:t>Syntax:   &lt;a </a:t>
            </a:r>
            <a:r>
              <a:rPr lang="en-US" dirty="0" err="1"/>
              <a:t>href</a:t>
            </a:r>
            <a:r>
              <a:rPr lang="en-US" dirty="0"/>
              <a:t>="URL"&gt;Link Text&lt;/a&gt;</a:t>
            </a:r>
          </a:p>
          <a:p>
            <a:r>
              <a:rPr lang="en-US" dirty="0"/>
              <a:t>&lt;a&gt; = Anchor tag</a:t>
            </a:r>
          </a:p>
          <a:p>
            <a:r>
              <a:rPr lang="en-US" dirty="0" err="1"/>
              <a:t>href</a:t>
            </a:r>
            <a:r>
              <a:rPr lang="en-US" dirty="0"/>
              <a:t> = Destination address</a:t>
            </a:r>
          </a:p>
          <a:p>
            <a:r>
              <a:rPr lang="en-US" b="1" dirty="0"/>
              <a:t>Example 1: External Website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401A2F-145E-9A12-8674-5D86DDB24F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1670" y="4777483"/>
            <a:ext cx="5733755" cy="591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9183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C8B3A-D44D-8808-D04E-7E1E44C3C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</a:t>
            </a:r>
            <a:r>
              <a:rPr lang="en-US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C704D-9E13-CCAF-CD9A-4832C37C3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Example 2: Internal Page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Example : Open in New Tab:</a:t>
            </a:r>
          </a:p>
          <a:p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9ADD4B-1FD4-1578-476A-AB86ECB8BA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4842" y="2691829"/>
            <a:ext cx="4749029" cy="5544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D49EB07-DAF9-4DDF-F95D-7F4F2A117C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0613" y="4449792"/>
            <a:ext cx="9029695" cy="554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8862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7E534-59C1-33E3-66E5-8C3C8FB84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Images in html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3F20D-DBA8-B002-4DD3-C13EEF4D01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Images are displayed using &lt;</a:t>
            </a:r>
            <a:r>
              <a:rPr lang="en-US" dirty="0" err="1"/>
              <a:t>img</a:t>
            </a:r>
            <a:r>
              <a:rPr lang="en-US" dirty="0"/>
              <a:t>&gt; tag.</a:t>
            </a:r>
          </a:p>
          <a:p>
            <a:r>
              <a:rPr lang="en-US" dirty="0"/>
              <a:t>Syntax:  &lt;</a:t>
            </a:r>
            <a:r>
              <a:rPr lang="en-US" dirty="0" err="1"/>
              <a:t>img</a:t>
            </a:r>
            <a:r>
              <a:rPr lang="en-US" dirty="0"/>
              <a:t> </a:t>
            </a:r>
            <a:r>
              <a:rPr lang="en-US" dirty="0" err="1"/>
              <a:t>src</a:t>
            </a:r>
            <a:r>
              <a:rPr lang="en-US" dirty="0"/>
              <a:t>="image.jpg" alt="Description"&gt;</a:t>
            </a:r>
          </a:p>
          <a:p>
            <a:r>
              <a:rPr lang="en-US" dirty="0"/>
              <a:t>Important Attributes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7DDD54E-67CD-6233-9AC2-851A0884EA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8422865"/>
              </p:ext>
            </p:extLst>
          </p:nvPr>
        </p:nvGraphicFramePr>
        <p:xfrm>
          <a:off x="1451579" y="3741038"/>
          <a:ext cx="9604374" cy="1828800"/>
        </p:xfrm>
        <a:graphic>
          <a:graphicData uri="http://schemas.openxmlformats.org/drawingml/2006/table">
            <a:tbl>
              <a:tblPr/>
              <a:tblGrid>
                <a:gridCol w="4802187">
                  <a:extLst>
                    <a:ext uri="{9D8B030D-6E8A-4147-A177-3AD203B41FA5}">
                      <a16:colId xmlns:a16="http://schemas.microsoft.com/office/drawing/2014/main" val="585315964"/>
                    </a:ext>
                  </a:extLst>
                </a:gridCol>
                <a:gridCol w="4802187">
                  <a:extLst>
                    <a:ext uri="{9D8B030D-6E8A-4147-A177-3AD203B41FA5}">
                      <a16:colId xmlns:a16="http://schemas.microsoft.com/office/drawing/2014/main" val="11028846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Attribute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823179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ourier New" panose="02070309020205020404" pitchFamily="49" charset="0"/>
                        </a:rPr>
                        <a:t>src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Image file path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658801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ourier New" panose="02070309020205020404" pitchFamily="49" charset="0"/>
                        </a:rPr>
                        <a:t>alt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Description if image does not load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42642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ourier New" panose="02070309020205020404" pitchFamily="49" charset="0"/>
                        </a:rPr>
                        <a:t>width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Width of image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612295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ourier New" panose="02070309020205020404" pitchFamily="49" charset="0"/>
                        </a:rPr>
                        <a:t>height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Height of image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1073876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424AD1E8-98E1-6E7F-7190-13B8E7E0C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878" y="3030876"/>
            <a:ext cx="6106793" cy="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258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FCE52-A5D2-D4D4-5150-EF2C7F72A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Complete html document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F70971B-7B51-F0E1-2D0C-44BF77494D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42986" y="2077770"/>
            <a:ext cx="5486097" cy="344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9733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36EF6-E373-EE32-01F4-E542474B3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business content pages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8C88E01-2B20-45F2-7457-A631FB9153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33007" y="2022395"/>
            <a:ext cx="5610301" cy="3796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0358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15647-56B4-5754-49F1-884DC1C0A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Services section in html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82A9688-5EEC-2E11-768F-EF228F1EA9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52984" y="2143027"/>
            <a:ext cx="6486031" cy="3417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6298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0FB3F-462D-132B-AC39-513BCC1D1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Products section using list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44A9887-2C48-C902-F142-CB019701B9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71228" y="2387071"/>
            <a:ext cx="7649544" cy="233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5848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D1373-6D39-60B0-20B6-A87A6B7E8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HTML Form?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08561-4F10-5576-BDFD-F630897151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An </a:t>
            </a:r>
            <a:r>
              <a:rPr lang="en-US" b="1" dirty="0"/>
              <a:t>HTML Form</a:t>
            </a:r>
            <a:r>
              <a:rPr lang="en-US" dirty="0"/>
              <a:t> is used to collect information from users.</a:t>
            </a:r>
          </a:p>
          <a:p>
            <a:r>
              <a:rPr lang="en-US" dirty="0"/>
              <a:t>Businesses use forms to:</a:t>
            </a:r>
          </a:p>
          <a:p>
            <a:r>
              <a:rPr lang="en-US" dirty="0"/>
              <a:t>Collect customer data</a:t>
            </a:r>
          </a:p>
          <a:p>
            <a:r>
              <a:rPr lang="en-US" dirty="0"/>
              <a:t>Receive messages</a:t>
            </a:r>
          </a:p>
          <a:p>
            <a:r>
              <a:rPr lang="en-US" dirty="0"/>
              <a:t>Take online orders</a:t>
            </a:r>
          </a:p>
          <a:p>
            <a:r>
              <a:rPr lang="en-US" dirty="0"/>
              <a:t>Register users</a:t>
            </a:r>
          </a:p>
          <a:p>
            <a:r>
              <a:rPr lang="en-US" dirty="0"/>
              <a:t>Conduct surveys</a:t>
            </a:r>
          </a:p>
          <a:p>
            <a:r>
              <a:rPr lang="en-US" dirty="0"/>
              <a:t>Forms send data to a </a:t>
            </a:r>
            <a:r>
              <a:rPr lang="en-US" b="1" dirty="0"/>
              <a:t>server</a:t>
            </a:r>
            <a:r>
              <a:rPr lang="en-US" dirty="0"/>
              <a:t> for processing.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42949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81EC-74F8-22FB-8C67-3A466872E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Structure of a 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13AD9-6FCE-C12B-F0B6-25D3C57134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&lt;form&gt; - Defines the form</a:t>
            </a:r>
          </a:p>
          <a:p>
            <a:r>
              <a:rPr lang="en-US" dirty="0"/>
              <a:t>action - Where the data will be sent</a:t>
            </a:r>
          </a:p>
          <a:p>
            <a:r>
              <a:rPr lang="en-US" dirty="0"/>
              <a:t>method - How the data will be sent</a:t>
            </a:r>
          </a:p>
          <a:p>
            <a:pPr lvl="1"/>
            <a:r>
              <a:rPr lang="en-US" dirty="0"/>
              <a:t>GET - Data visible in URL</a:t>
            </a:r>
          </a:p>
          <a:p>
            <a:pPr lvl="1"/>
            <a:r>
              <a:rPr lang="en-US" dirty="0"/>
              <a:t>POST - Data hidden (used for sensitive info)</a:t>
            </a:r>
          </a:p>
          <a:p>
            <a:r>
              <a:rPr lang="en-US" dirty="0"/>
              <a:t>Always use POST for login, payments, and customer data.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B29EA9-DD6E-70EE-3D46-618E83A3A7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633501"/>
            <a:ext cx="4487205" cy="984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9536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32E47-705B-CDCC-53A6-8529AFCF1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fields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EF861C-1AC9-FFFF-A754-37AEC59E03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Input fields allow users to enter different types of information.</a:t>
            </a:r>
          </a:p>
          <a:p>
            <a:r>
              <a:rPr lang="en-US" dirty="0"/>
              <a:t>The main tag is  &lt;input type="..."&gt;</a:t>
            </a:r>
          </a:p>
          <a:p>
            <a:r>
              <a:rPr lang="en-US" b="1" dirty="0"/>
              <a:t>Text Input</a:t>
            </a:r>
          </a:p>
          <a:p>
            <a:r>
              <a:rPr lang="en-US" dirty="0"/>
              <a:t>Used for names, city, etc.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9BBBAB-E13E-0E52-9674-1A5392A8DC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9995" y="4294423"/>
            <a:ext cx="5710858" cy="505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2237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517E6-3CB9-9246-4D67-63450B843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</a:t>
            </a:r>
            <a:r>
              <a:rPr lang="en-US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DAF0E-80F0-0366-D8AE-C53B9A7125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Email Input</a:t>
            </a:r>
          </a:p>
          <a:p>
            <a:r>
              <a:rPr lang="en-US" dirty="0"/>
              <a:t>Automatically checks valid email format</a:t>
            </a:r>
          </a:p>
          <a:p>
            <a:r>
              <a:rPr lang="en-US" dirty="0"/>
              <a:t>Useful for customer communication</a:t>
            </a:r>
          </a:p>
          <a:p>
            <a:endParaRPr lang="en-US" dirty="0"/>
          </a:p>
          <a:p>
            <a:r>
              <a:rPr lang="en-US" b="1" dirty="0"/>
              <a:t>Password Input</a:t>
            </a:r>
          </a:p>
          <a:p>
            <a:r>
              <a:rPr lang="en-US" dirty="0"/>
              <a:t>Used for Login forms</a:t>
            </a:r>
          </a:p>
          <a:p>
            <a:r>
              <a:rPr lang="en-US" dirty="0"/>
              <a:t>Account creation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EDE8B9-81DC-17BD-E3E3-7EC24A46E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1520" y="3429000"/>
            <a:ext cx="5678901" cy="6183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4C6AF1-541E-426B-A53B-00CD0817D0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1520" y="4880225"/>
            <a:ext cx="5856680" cy="484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530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08190-EAB9-EFDA-F0C4-73AAC7D5C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</a:t>
            </a:r>
            <a:r>
              <a:rPr lang="en-US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86076-6AE9-2328-CCC1-0ECC4BE134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Number Input</a:t>
            </a:r>
          </a:p>
          <a:p>
            <a:r>
              <a:rPr lang="en-US" dirty="0"/>
              <a:t>Used for Product quantity</a:t>
            </a:r>
          </a:p>
          <a:p>
            <a:r>
              <a:rPr lang="en-US" dirty="0"/>
              <a:t>Phone number (sometimes)</a:t>
            </a:r>
            <a:endParaRPr lang="en-US" b="1" dirty="0"/>
          </a:p>
          <a:p>
            <a:r>
              <a:rPr lang="en-US" b="1" dirty="0"/>
              <a:t>Date Input</a:t>
            </a:r>
          </a:p>
          <a:p>
            <a:r>
              <a:rPr lang="en-US" dirty="0"/>
              <a:t>Used for Appointment booking</a:t>
            </a:r>
          </a:p>
          <a:p>
            <a:r>
              <a:rPr lang="en-US" dirty="0"/>
              <a:t>Delivery scheduling</a:t>
            </a:r>
          </a:p>
          <a:p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15F0B9-86B9-DE08-3421-F519B4F2CA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5352" y="2744837"/>
            <a:ext cx="5331822" cy="5951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6BF4F4-ED78-17DC-3D23-C1A887E48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8986" y="4063020"/>
            <a:ext cx="3207886" cy="732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9006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23D2C-A787-C1B3-1D29-ADEFE9917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</a:t>
            </a:r>
            <a:r>
              <a:rPr lang="en-US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1F245-777B-D62E-8A87-B7FB9A223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Radio Buttons (Choose One)</a:t>
            </a:r>
          </a:p>
          <a:p>
            <a:r>
              <a:rPr lang="en-US" dirty="0"/>
              <a:t>Used for Payment method selection</a:t>
            </a:r>
          </a:p>
          <a:p>
            <a:r>
              <a:rPr lang="en-US" dirty="0"/>
              <a:t>Delivery type</a:t>
            </a:r>
          </a:p>
          <a:p>
            <a:r>
              <a:rPr lang="en-US" b="1" dirty="0"/>
              <a:t>Checkboxes (Multiple Selection)</a:t>
            </a:r>
          </a:p>
          <a:p>
            <a:r>
              <a:rPr lang="en-US" dirty="0"/>
              <a:t>Used for Skills selection</a:t>
            </a:r>
          </a:p>
          <a:p>
            <a:r>
              <a:rPr lang="en-US" dirty="0"/>
              <a:t>Newsletter subscription</a:t>
            </a:r>
          </a:p>
          <a:p>
            <a:endParaRPr lang="en-US" b="1" dirty="0"/>
          </a:p>
          <a:p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D92F23-4DAD-63CD-0ED7-A1C7234241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7108" y="2074808"/>
            <a:ext cx="5237706" cy="8430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BF37C0-5BFA-B463-E977-2F3BAAAAD1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2959" y="4352459"/>
            <a:ext cx="4687462" cy="984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4942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6C09B-4C70-5F7B-338C-344F0A522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</a:t>
            </a:r>
            <a:r>
              <a:rPr lang="en-US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C3BEE-AD07-0051-55A9-DF2B65A4EE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Textarea</a:t>
            </a:r>
            <a:r>
              <a:rPr lang="en-US" b="1" dirty="0"/>
              <a:t> (Large Text Box)</a:t>
            </a:r>
          </a:p>
          <a:p>
            <a:r>
              <a:rPr lang="en-US" dirty="0"/>
              <a:t>Used for Customer message</a:t>
            </a:r>
          </a:p>
          <a:p>
            <a:r>
              <a:rPr lang="en-US" dirty="0"/>
              <a:t>Feedback</a:t>
            </a:r>
          </a:p>
          <a:p>
            <a:r>
              <a:rPr lang="en-US" dirty="0"/>
              <a:t>Reviews</a:t>
            </a:r>
          </a:p>
          <a:p>
            <a:r>
              <a:rPr lang="en-US" dirty="0"/>
              <a:t>Rows = 4 means the user can see 4 lines of text without scrolling.</a:t>
            </a:r>
          </a:p>
          <a:p>
            <a:r>
              <a:rPr lang="en-US" dirty="0"/>
              <a:t>Cols = 30  means approximately 30 characters fit in one line.</a:t>
            </a: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EBEA4E-10A7-0163-F598-8F9E40CDD8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2041" y="3092170"/>
            <a:ext cx="5420603" cy="673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1685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F4443-61BA-D3EE-94F1-12C84BFED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Buttons in Forms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82ACA-E2DE-C211-20BD-4F10FF61AB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Buttons allow users to submit or reset the form.</a:t>
            </a:r>
          </a:p>
          <a:p>
            <a:r>
              <a:rPr lang="en-US" b="1" dirty="0"/>
              <a:t>Submit Button</a:t>
            </a:r>
          </a:p>
          <a:p>
            <a:r>
              <a:rPr lang="en-US" dirty="0"/>
              <a:t>&lt;button type="submit"&gt;Submit&lt;/button&gt;</a:t>
            </a:r>
          </a:p>
          <a:p>
            <a:r>
              <a:rPr lang="en-US" dirty="0"/>
              <a:t>Or </a:t>
            </a:r>
          </a:p>
          <a:p>
            <a:r>
              <a:rPr lang="en-US" dirty="0"/>
              <a:t>&lt;input type="submit" value="Send"&gt;</a:t>
            </a:r>
          </a:p>
          <a:p>
            <a:r>
              <a:rPr lang="en-US" b="1" dirty="0"/>
              <a:t>Reset Button</a:t>
            </a:r>
          </a:p>
          <a:p>
            <a:r>
              <a:rPr lang="en-US" dirty="0"/>
              <a:t>Purpose : Clear all fields     &lt;button type="reset"&gt;Reset&lt;/button&gt;</a:t>
            </a:r>
          </a:p>
        </p:txBody>
      </p:sp>
    </p:spTree>
    <p:extLst>
      <p:ext uri="{BB962C8B-B14F-4D97-AF65-F5344CB8AC3E}">
        <p14:creationId xmlns:p14="http://schemas.microsoft.com/office/powerpoint/2010/main" val="5542095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CFED9-6ED5-E22D-96D4-5D65F3DB1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Contact Us Form with output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724D484-119A-95D0-7F37-61F2CBE8E7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16593" y="1952088"/>
            <a:ext cx="3208935" cy="41135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0066B5A-870C-0316-6ED7-50011A96D1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5692" y="1970462"/>
            <a:ext cx="3997575" cy="4083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752732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2020</TotalTime>
  <Words>830</Words>
  <Application>Microsoft Office PowerPoint</Application>
  <PresentationFormat>Widescreen</PresentationFormat>
  <Paragraphs>154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Courier New</vt:lpstr>
      <vt:lpstr>Gill Sans MT</vt:lpstr>
      <vt:lpstr>Gallery</vt:lpstr>
      <vt:lpstr>PowerPoint Presentation</vt:lpstr>
      <vt:lpstr>Lecture : 04</vt:lpstr>
      <vt:lpstr>What is html?</vt:lpstr>
      <vt:lpstr>HTML is the Foundation of Every Website</vt:lpstr>
      <vt:lpstr>Structure of an HTML Document</vt:lpstr>
      <vt:lpstr>Cont…</vt:lpstr>
      <vt:lpstr>Cont…</vt:lpstr>
      <vt:lpstr>Cont…</vt:lpstr>
      <vt:lpstr>Headings in HTML</vt:lpstr>
      <vt:lpstr>Paragraphs in HTML</vt:lpstr>
      <vt:lpstr>Links in HTML</vt:lpstr>
      <vt:lpstr>Cont…</vt:lpstr>
      <vt:lpstr>Images in html</vt:lpstr>
      <vt:lpstr>Complete html document</vt:lpstr>
      <vt:lpstr>Creating business content pages</vt:lpstr>
      <vt:lpstr>Services section in html</vt:lpstr>
      <vt:lpstr>Products section using list</vt:lpstr>
      <vt:lpstr>What is an HTML Form?</vt:lpstr>
      <vt:lpstr>Basic Structure of a Form</vt:lpstr>
      <vt:lpstr>Input fields</vt:lpstr>
      <vt:lpstr>Cont…</vt:lpstr>
      <vt:lpstr>Cont…</vt:lpstr>
      <vt:lpstr>Cont…</vt:lpstr>
      <vt:lpstr>Cont…</vt:lpstr>
      <vt:lpstr>Buttons in Forms</vt:lpstr>
      <vt:lpstr>Contact Us Form with output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Asad Javed</dc:creator>
  <cp:lastModifiedBy>Asad Javed</cp:lastModifiedBy>
  <cp:revision>221</cp:revision>
  <dcterms:created xsi:type="dcterms:W3CDTF">2025-09-12T12:30:33Z</dcterms:created>
  <dcterms:modified xsi:type="dcterms:W3CDTF">2026-02-28T05:29:51Z</dcterms:modified>
</cp:coreProperties>
</file>