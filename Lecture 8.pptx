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6"/>
  </p:notesMasterIdLst>
  <p:sldIdLst>
    <p:sldId id="256" r:id="rId2"/>
    <p:sldId id="261" r:id="rId3"/>
    <p:sldId id="300" r:id="rId4"/>
    <p:sldId id="301" r:id="rId5"/>
    <p:sldId id="302" r:id="rId6"/>
    <p:sldId id="303" r:id="rId7"/>
    <p:sldId id="304" r:id="rId8"/>
    <p:sldId id="305" r:id="rId9"/>
    <p:sldId id="306" r:id="rId10"/>
    <p:sldId id="307" r:id="rId11"/>
    <p:sldId id="308" r:id="rId12"/>
    <p:sldId id="309" r:id="rId13"/>
    <p:sldId id="310" r:id="rId14"/>
    <p:sldId id="311" r:id="rId15"/>
    <p:sldId id="312" r:id="rId16"/>
    <p:sldId id="313" r:id="rId17"/>
    <p:sldId id="314" r:id="rId18"/>
    <p:sldId id="315" r:id="rId19"/>
    <p:sldId id="316" r:id="rId20"/>
    <p:sldId id="317" r:id="rId21"/>
    <p:sldId id="318" r:id="rId22"/>
    <p:sldId id="319" r:id="rId23"/>
    <p:sldId id="320" r:id="rId24"/>
    <p:sldId id="321" r:id="rId25"/>
    <p:sldId id="322" r:id="rId26"/>
    <p:sldId id="323" r:id="rId27"/>
    <p:sldId id="324" r:id="rId28"/>
    <p:sldId id="325" r:id="rId29"/>
    <p:sldId id="326" r:id="rId30"/>
    <p:sldId id="327" r:id="rId31"/>
    <p:sldId id="328" r:id="rId32"/>
    <p:sldId id="329" r:id="rId33"/>
    <p:sldId id="330" r:id="rId34"/>
    <p:sldId id="331"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0" d="100"/>
          <a:sy n="70" d="100"/>
        </p:scale>
        <p:origin x="512" y="-2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04BD0D-F377-4BB2-950B-0ABDBF7025C3}" type="datetimeFigureOut">
              <a:rPr lang="en-US" smtClean="0"/>
              <a:t>4/18/2026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437254-F8D8-44B7-8D96-0638D1688C68}" type="slidenum">
              <a:rPr lang="en-US" smtClean="0"/>
              <a:t>‹#›</a:t>
            </a:fld>
            <a:endParaRPr lang="en-US"/>
          </a:p>
        </p:txBody>
      </p:sp>
    </p:spTree>
    <p:extLst>
      <p:ext uri="{BB962C8B-B14F-4D97-AF65-F5344CB8AC3E}">
        <p14:creationId xmlns:p14="http://schemas.microsoft.com/office/powerpoint/2010/main" val="488879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41BB4F6-8B81-41C3-9539-DA183A3106B0}" type="datetimeFigureOut">
              <a:rPr lang="en-US" smtClean="0"/>
              <a:t>4/18/2026</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BD5B2FB1-21CF-44EC-BACA-C9E85D237C61}"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656841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41BB4F6-8B81-41C3-9539-DA183A3106B0}"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5B2FB1-21CF-44EC-BACA-C9E85D237C61}"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01964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41BB4F6-8B81-41C3-9539-DA183A3106B0}"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5B2FB1-21CF-44EC-BACA-C9E85D237C61}"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53616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41BB4F6-8B81-41C3-9539-DA183A3106B0}" type="datetimeFigureOut">
              <a:rPr lang="en-US" smtClean="0"/>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5B2FB1-21CF-44EC-BACA-C9E85D237C61}"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18701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41BB4F6-8B81-41C3-9539-DA183A3106B0}" type="datetimeFigureOut">
              <a:rPr lang="en-US" smtClean="0"/>
              <a:t>4/18/2026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5B2FB1-21CF-44EC-BACA-C9E85D237C61}"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746973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41BB4F6-8B81-41C3-9539-DA183A3106B0}" type="datetimeFigureOut">
              <a:rPr lang="en-US" smtClean="0"/>
              <a:t>4/18/2026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5B2FB1-21CF-44EC-BACA-C9E85D237C61}"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402065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1BB4F6-8B81-41C3-9539-DA183A3106B0}" type="datetimeFigureOut">
              <a:rPr lang="en-US" smtClean="0"/>
              <a:t>4/18/2026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5B2FB1-21CF-44EC-BACA-C9E85D237C61}" type="slidenum">
              <a:rPr lang="en-US" smtClean="0"/>
              <a:t>‹#›</a:t>
            </a:fld>
            <a:endParaRPr lang="en-US"/>
          </a:p>
        </p:txBody>
      </p:sp>
    </p:spTree>
    <p:extLst>
      <p:ext uri="{BB962C8B-B14F-4D97-AF65-F5344CB8AC3E}">
        <p14:creationId xmlns:p14="http://schemas.microsoft.com/office/powerpoint/2010/main" val="26919574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41BB4F6-8B81-41C3-9539-DA183A3106B0}" type="datetimeFigureOut">
              <a:rPr lang="en-US" smtClean="0"/>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5B2FB1-21CF-44EC-BACA-C9E85D237C61}"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65625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B41BB4F6-8B81-41C3-9539-DA183A3106B0}" type="datetimeFigureOut">
              <a:rPr lang="en-US" smtClean="0"/>
              <a:t>4/18/2026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BD5B2FB1-21CF-44EC-BACA-C9E85D237C61}"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979003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41BB4F6-8B81-41C3-9539-DA183A3106B0}"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5B2FB1-21CF-44EC-BACA-C9E85D237C61}"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61929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41BB4F6-8B81-41C3-9539-DA183A3106B0}"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5B2FB1-21CF-44EC-BACA-C9E85D237C61}"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490130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B41BB4F6-8B81-41C3-9539-DA183A3106B0}" type="datetimeFigureOut">
              <a:rPr lang="en-US" smtClean="0"/>
              <a:t>4/18/2026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BD5B2FB1-21CF-44EC-BACA-C9E85D237C61}"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568172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simpleisbetterthancomplex.com/series/2017/09/11/a-complete-beginners-guide-to-django-part-2.html" TargetMode="Externa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hyperlink" Target="https://creativecommons.org/licenses/by-nc-sa/3.0/"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pt.wikipedia.org/wiki/Diagrama_de_caso_de_uso" TargetMode="Externa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E0388-B079-A389-5EBE-C58E485673E5}"/>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id="{E460573A-2BBC-EE84-71B3-8B9EF2758839}"/>
              </a:ext>
            </a:extLst>
          </p:cNvPr>
          <p:cNvSpPr>
            <a:spLocks noGrp="1"/>
          </p:cNvSpPr>
          <p:nvPr>
            <p:ph type="subTitle" idx="1"/>
          </p:nvPr>
        </p:nvSpPr>
        <p:spPr/>
        <p:txBody>
          <a:bodyPr/>
          <a:lstStyle/>
          <a:p>
            <a:endParaRPr lang="en-US"/>
          </a:p>
        </p:txBody>
      </p:sp>
      <p:pic>
        <p:nvPicPr>
          <p:cNvPr id="4" name="Picture 3">
            <a:extLst>
              <a:ext uri="{FF2B5EF4-FFF2-40B4-BE49-F238E27FC236}">
                <a16:creationId xmlns:a16="http://schemas.microsoft.com/office/drawing/2014/main" id="{1CCD68E3-D30D-AA20-48F4-C569A026AAB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9955" y="788918"/>
            <a:ext cx="11132090" cy="3704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69265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3181C-59EE-16DB-00C9-737771AE8E9C}"/>
              </a:ext>
            </a:extLst>
          </p:cNvPr>
          <p:cNvSpPr>
            <a:spLocks noGrp="1"/>
          </p:cNvSpPr>
          <p:nvPr>
            <p:ph type="ctrTitle"/>
          </p:nvPr>
        </p:nvSpPr>
        <p:spPr/>
        <p:txBody>
          <a:bodyPr>
            <a:normAutofit/>
          </a:bodyPr>
          <a:lstStyle/>
          <a:p>
            <a:r>
              <a:rPr lang="en-US" sz="4000" dirty="0"/>
              <a:t>Lecture : 08</a:t>
            </a:r>
          </a:p>
        </p:txBody>
      </p:sp>
      <p:sp>
        <p:nvSpPr>
          <p:cNvPr id="3" name="Subtitle 2">
            <a:extLst>
              <a:ext uri="{FF2B5EF4-FFF2-40B4-BE49-F238E27FC236}">
                <a16:creationId xmlns:a16="http://schemas.microsoft.com/office/drawing/2014/main" id="{6BCF6595-6D7A-271E-1DC9-E6C569455F07}"/>
              </a:ext>
            </a:extLst>
          </p:cNvPr>
          <p:cNvSpPr>
            <a:spLocks noGrp="1"/>
          </p:cNvSpPr>
          <p:nvPr>
            <p:ph type="subTitle" idx="1"/>
          </p:nvPr>
        </p:nvSpPr>
        <p:spPr/>
        <p:txBody>
          <a:bodyPr>
            <a:normAutofit/>
          </a:bodyPr>
          <a:lstStyle/>
          <a:p>
            <a:r>
              <a:rPr lang="en-US" sz="2400" dirty="0"/>
              <a:t>Introduction to Mobile apps for business</a:t>
            </a:r>
          </a:p>
        </p:txBody>
      </p:sp>
    </p:spTree>
    <p:extLst>
      <p:ext uri="{BB962C8B-B14F-4D97-AF65-F5344CB8AC3E}">
        <p14:creationId xmlns:p14="http://schemas.microsoft.com/office/powerpoint/2010/main" val="789811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8033A-C8D6-1E00-B9BB-618EC189A710}"/>
              </a:ext>
            </a:extLst>
          </p:cNvPr>
          <p:cNvSpPr>
            <a:spLocks noGrp="1"/>
          </p:cNvSpPr>
          <p:nvPr>
            <p:ph type="title"/>
          </p:nvPr>
        </p:nvSpPr>
        <p:spPr/>
        <p:txBody>
          <a:bodyPr/>
          <a:lstStyle/>
          <a:p>
            <a:r>
              <a:rPr lang="en-US" dirty="0"/>
              <a:t>Mobile apps for business</a:t>
            </a:r>
          </a:p>
        </p:txBody>
      </p:sp>
      <p:sp>
        <p:nvSpPr>
          <p:cNvPr id="3" name="Content Placeholder 2">
            <a:extLst>
              <a:ext uri="{FF2B5EF4-FFF2-40B4-BE49-F238E27FC236}">
                <a16:creationId xmlns:a16="http://schemas.microsoft.com/office/drawing/2014/main" id="{753F1BBB-32AD-6D04-C8E1-AA9F4E709646}"/>
              </a:ext>
            </a:extLst>
          </p:cNvPr>
          <p:cNvSpPr>
            <a:spLocks noGrp="1"/>
          </p:cNvSpPr>
          <p:nvPr>
            <p:ph idx="1"/>
          </p:nvPr>
        </p:nvSpPr>
        <p:spPr/>
        <p:txBody>
          <a:bodyPr>
            <a:normAutofit fontScale="85000" lnSpcReduction="10000"/>
          </a:bodyPr>
          <a:lstStyle/>
          <a:p>
            <a:r>
              <a:rPr lang="en-US" dirty="0"/>
              <a:t>Mobile apps for business are simple apps on phones or tablets that help companies do their work.</a:t>
            </a:r>
          </a:p>
          <a:p>
            <a:r>
              <a:rPr lang="en-US" dirty="0"/>
              <a:t>They help people:</a:t>
            </a:r>
          </a:p>
          <a:p>
            <a:r>
              <a:rPr lang="en-US" dirty="0"/>
              <a:t>run their business easily </a:t>
            </a:r>
          </a:p>
          <a:p>
            <a:r>
              <a:rPr lang="en-US" dirty="0"/>
              <a:t>talk to customers </a:t>
            </a:r>
          </a:p>
          <a:p>
            <a:r>
              <a:rPr lang="en-US" dirty="0"/>
              <a:t>sell products or services </a:t>
            </a:r>
          </a:p>
          <a:p>
            <a:r>
              <a:rPr lang="en-US" dirty="0"/>
              <a:t>manage daily work </a:t>
            </a:r>
          </a:p>
          <a:p>
            <a:r>
              <a:rPr lang="en-US" dirty="0"/>
              <a:t>Instead of using paper or a computer all the time, business owners can use their phone to handle things quickly from anywhere.</a:t>
            </a:r>
          </a:p>
          <a:p>
            <a:endParaRPr lang="en-US" dirty="0"/>
          </a:p>
        </p:txBody>
      </p:sp>
    </p:spTree>
    <p:extLst>
      <p:ext uri="{BB962C8B-B14F-4D97-AF65-F5344CB8AC3E}">
        <p14:creationId xmlns:p14="http://schemas.microsoft.com/office/powerpoint/2010/main" val="14056894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3C8F4-04BA-553F-8DBD-093320A53705}"/>
              </a:ext>
            </a:extLst>
          </p:cNvPr>
          <p:cNvSpPr>
            <a:spLocks noGrp="1"/>
          </p:cNvSpPr>
          <p:nvPr>
            <p:ph type="title"/>
          </p:nvPr>
        </p:nvSpPr>
        <p:spPr/>
        <p:txBody>
          <a:bodyPr/>
          <a:lstStyle/>
          <a:p>
            <a:r>
              <a:rPr lang="en-US" dirty="0"/>
              <a:t>What mobile apps do in business</a:t>
            </a:r>
          </a:p>
        </p:txBody>
      </p:sp>
      <p:sp>
        <p:nvSpPr>
          <p:cNvPr id="3" name="Content Placeholder 2">
            <a:extLst>
              <a:ext uri="{FF2B5EF4-FFF2-40B4-BE49-F238E27FC236}">
                <a16:creationId xmlns:a16="http://schemas.microsoft.com/office/drawing/2014/main" id="{EACC49EC-F2A3-7E07-8464-5CE02290794A}"/>
              </a:ext>
            </a:extLst>
          </p:cNvPr>
          <p:cNvSpPr>
            <a:spLocks noGrp="1"/>
          </p:cNvSpPr>
          <p:nvPr>
            <p:ph idx="1"/>
          </p:nvPr>
        </p:nvSpPr>
        <p:spPr/>
        <p:txBody>
          <a:bodyPr>
            <a:normAutofit fontScale="92500" lnSpcReduction="20000"/>
          </a:bodyPr>
          <a:lstStyle/>
          <a:p>
            <a:r>
              <a:rPr lang="en-US" dirty="0"/>
              <a:t>Businesses use mobile apps for many purposes, such as:</a:t>
            </a:r>
          </a:p>
          <a:p>
            <a:r>
              <a:rPr lang="en-US" b="1" dirty="0"/>
              <a:t>1. Selling products or services online</a:t>
            </a:r>
          </a:p>
          <a:p>
            <a:r>
              <a:rPr lang="en-US" dirty="0"/>
              <a:t>Mobile apps let businesses sell their products directly through phones. Customers can open the app, see products, add them to a cart, and place orders. It works like a digital shop that is always open.</a:t>
            </a:r>
          </a:p>
          <a:p>
            <a:r>
              <a:rPr lang="en-US" b="1" dirty="0"/>
              <a:t>2. Managing customers and orders</a:t>
            </a:r>
          </a:p>
          <a:p>
            <a:r>
              <a:rPr lang="en-US" dirty="0"/>
              <a:t>Businesses use apps to keep track of customers and their orders. For example, when someone buys something, the app records the order, updates its status, and helps the business deliver it on time. It also stores customer details for future use.</a:t>
            </a:r>
          </a:p>
          <a:p>
            <a:endParaRPr lang="en-US" dirty="0"/>
          </a:p>
        </p:txBody>
      </p:sp>
    </p:spTree>
    <p:extLst>
      <p:ext uri="{BB962C8B-B14F-4D97-AF65-F5344CB8AC3E}">
        <p14:creationId xmlns:p14="http://schemas.microsoft.com/office/powerpoint/2010/main" val="2418151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D749F-82A7-CDDC-7C7F-EE75F1C1BCC1}"/>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6172AD89-A49E-19C6-7F19-17D099232C11}"/>
              </a:ext>
            </a:extLst>
          </p:cNvPr>
          <p:cNvSpPr>
            <a:spLocks noGrp="1"/>
          </p:cNvSpPr>
          <p:nvPr>
            <p:ph idx="1"/>
          </p:nvPr>
        </p:nvSpPr>
        <p:spPr/>
        <p:txBody>
          <a:bodyPr/>
          <a:lstStyle/>
          <a:p>
            <a:r>
              <a:rPr lang="en-US" b="1" dirty="0"/>
              <a:t>3. Sending updates, offers, and notifications</a:t>
            </a:r>
          </a:p>
          <a:p>
            <a:r>
              <a:rPr lang="en-US" dirty="0"/>
              <a:t>Apps can send messages directly to customers’ phones. Businesses use this to share discounts, new products, delivery updates, or important announcements. This helps keep customers connected and engaged.</a:t>
            </a:r>
          </a:p>
          <a:p>
            <a:r>
              <a:rPr lang="en-US" b="1" dirty="0"/>
              <a:t>4. Handling payments digitally</a:t>
            </a:r>
          </a:p>
          <a:p>
            <a:r>
              <a:rPr lang="en-US" dirty="0"/>
              <a:t>Mobile apps allow customers to pay using cards, mobile wallets, or online banking. This makes payments faster, safer, and more convenient compared to cash.</a:t>
            </a:r>
          </a:p>
          <a:p>
            <a:endParaRPr lang="en-US" dirty="0"/>
          </a:p>
        </p:txBody>
      </p:sp>
    </p:spTree>
    <p:extLst>
      <p:ext uri="{BB962C8B-B14F-4D97-AF65-F5344CB8AC3E}">
        <p14:creationId xmlns:p14="http://schemas.microsoft.com/office/powerpoint/2010/main" val="2127216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FF5C-1472-AD71-5FE1-96B715F3BE25}"/>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9F89A217-0875-DA53-8473-20383913FA55}"/>
              </a:ext>
            </a:extLst>
          </p:cNvPr>
          <p:cNvSpPr>
            <a:spLocks noGrp="1"/>
          </p:cNvSpPr>
          <p:nvPr>
            <p:ph idx="1"/>
          </p:nvPr>
        </p:nvSpPr>
        <p:spPr/>
        <p:txBody>
          <a:bodyPr/>
          <a:lstStyle/>
          <a:p>
            <a:r>
              <a:rPr lang="en-US" b="1" dirty="0"/>
              <a:t>5. Tracking sales, stock, or employees</a:t>
            </a:r>
          </a:p>
          <a:p>
            <a:r>
              <a:rPr lang="en-US" dirty="0"/>
              <a:t>Apps help business owners monitor how much they are selling, what items are in stock, and how employees are performing. This helps them make better decisions and avoid problems like running out of products.</a:t>
            </a:r>
          </a:p>
          <a:p>
            <a:endParaRPr lang="en-US" dirty="0"/>
          </a:p>
        </p:txBody>
      </p:sp>
    </p:spTree>
    <p:extLst>
      <p:ext uri="{BB962C8B-B14F-4D97-AF65-F5344CB8AC3E}">
        <p14:creationId xmlns:p14="http://schemas.microsoft.com/office/powerpoint/2010/main" val="3658193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CA560-CE33-9EA9-030A-B8F663A74EE0}"/>
              </a:ext>
            </a:extLst>
          </p:cNvPr>
          <p:cNvSpPr>
            <a:spLocks noGrp="1"/>
          </p:cNvSpPr>
          <p:nvPr>
            <p:ph type="title"/>
          </p:nvPr>
        </p:nvSpPr>
        <p:spPr/>
        <p:txBody>
          <a:bodyPr/>
          <a:lstStyle/>
          <a:p>
            <a:r>
              <a:rPr lang="en-US" dirty="0"/>
              <a:t>Why mobile apps are important for business</a:t>
            </a:r>
          </a:p>
        </p:txBody>
      </p:sp>
      <p:sp>
        <p:nvSpPr>
          <p:cNvPr id="3" name="Content Placeholder 2">
            <a:extLst>
              <a:ext uri="{FF2B5EF4-FFF2-40B4-BE49-F238E27FC236}">
                <a16:creationId xmlns:a16="http://schemas.microsoft.com/office/drawing/2014/main" id="{472D2363-1A5D-B9EA-4BEF-3C6FB770DC63}"/>
              </a:ext>
            </a:extLst>
          </p:cNvPr>
          <p:cNvSpPr>
            <a:spLocks noGrp="1"/>
          </p:cNvSpPr>
          <p:nvPr>
            <p:ph idx="1"/>
          </p:nvPr>
        </p:nvSpPr>
        <p:spPr/>
        <p:txBody>
          <a:bodyPr/>
          <a:lstStyle/>
          <a:p>
            <a:r>
              <a:rPr lang="en-US" dirty="0"/>
              <a:t>Mobile apps help businesses because:</a:t>
            </a:r>
          </a:p>
          <a:p>
            <a:r>
              <a:rPr lang="en-US" b="1" dirty="0"/>
              <a:t>1. They save time by automating tasks</a:t>
            </a:r>
          </a:p>
          <a:p>
            <a:r>
              <a:rPr lang="en-US" dirty="0"/>
              <a:t>Mobile apps reduce manual work. Instead of writing things on paper or updating records by hand, apps do it automatically. For example, when a customer places an order, the app instantly records it, updates stock, and sends confirmation. This saves a lot of time and reduces mistakes.</a:t>
            </a:r>
          </a:p>
          <a:p>
            <a:endParaRPr lang="en-US" dirty="0"/>
          </a:p>
        </p:txBody>
      </p:sp>
    </p:spTree>
    <p:extLst>
      <p:ext uri="{BB962C8B-B14F-4D97-AF65-F5344CB8AC3E}">
        <p14:creationId xmlns:p14="http://schemas.microsoft.com/office/powerpoint/2010/main" val="2482404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1DEA9-C4F8-744F-A094-DA9D2845FC70}"/>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9D71F224-7545-E07E-7718-27719512BCC6}"/>
              </a:ext>
            </a:extLst>
          </p:cNvPr>
          <p:cNvSpPr>
            <a:spLocks noGrp="1"/>
          </p:cNvSpPr>
          <p:nvPr>
            <p:ph idx="1"/>
          </p:nvPr>
        </p:nvSpPr>
        <p:spPr/>
        <p:txBody>
          <a:bodyPr/>
          <a:lstStyle/>
          <a:p>
            <a:r>
              <a:rPr lang="en-US" b="1" dirty="0"/>
              <a:t>2. They improve customer experience through easy access</a:t>
            </a:r>
          </a:p>
          <a:p>
            <a:r>
              <a:rPr lang="en-US" dirty="0"/>
              <a:t>Customers can use mobile apps anytime and anywhere. They don’t need to visit a shop or call someone. They can browse products, check prices, and place orders in just a few taps. This makes the whole experience simple and comfortable.</a:t>
            </a:r>
          </a:p>
          <a:p>
            <a:r>
              <a:rPr lang="en-US" b="1" dirty="0"/>
              <a:t>3. They increase sales by reaching customers anytime</a:t>
            </a:r>
          </a:p>
          <a:p>
            <a:r>
              <a:rPr lang="en-US" dirty="0"/>
              <a:t>Since people always carry their phones, businesses can stay connected with them 24/7. Apps also send reminders, discounts, and promotions, which encourage customers to buy more. This helps increase overall sales.</a:t>
            </a:r>
          </a:p>
          <a:p>
            <a:endParaRPr lang="en-US" dirty="0"/>
          </a:p>
        </p:txBody>
      </p:sp>
    </p:spTree>
    <p:extLst>
      <p:ext uri="{BB962C8B-B14F-4D97-AF65-F5344CB8AC3E}">
        <p14:creationId xmlns:p14="http://schemas.microsoft.com/office/powerpoint/2010/main" val="2684177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70295-0011-081F-292C-5D286008A27E}"/>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FB9E3DC1-F3BB-8CB1-E903-5FB42A268105}"/>
              </a:ext>
            </a:extLst>
          </p:cNvPr>
          <p:cNvSpPr>
            <a:spLocks noGrp="1"/>
          </p:cNvSpPr>
          <p:nvPr>
            <p:ph idx="1"/>
          </p:nvPr>
        </p:nvSpPr>
        <p:spPr/>
        <p:txBody>
          <a:bodyPr/>
          <a:lstStyle/>
          <a:p>
            <a:r>
              <a:rPr lang="en-US" b="1" dirty="0"/>
              <a:t>4. They make communication faster</a:t>
            </a:r>
          </a:p>
          <a:p>
            <a:r>
              <a:rPr lang="en-US" dirty="0"/>
              <a:t>Mobile apps allow quick communication between businesses and customers. Messages, notifications, and updates reach instantly. For example, customers can get delivery updates or support replies without waiting for long emails or calls.</a:t>
            </a:r>
          </a:p>
          <a:p>
            <a:r>
              <a:rPr lang="en-US" b="1" dirty="0"/>
              <a:t>5. They support remote work and management</a:t>
            </a:r>
          </a:p>
          <a:p>
            <a:r>
              <a:rPr lang="en-US" dirty="0"/>
              <a:t>Business owners and employees can manage work from anywhere using apps. They can check reports, approve orders, or monitor sales even if they are not in the office. This makes business management more flexible and efficient.</a:t>
            </a:r>
          </a:p>
          <a:p>
            <a:endParaRPr lang="en-US" dirty="0"/>
          </a:p>
        </p:txBody>
      </p:sp>
    </p:spTree>
    <p:extLst>
      <p:ext uri="{BB962C8B-B14F-4D97-AF65-F5344CB8AC3E}">
        <p14:creationId xmlns:p14="http://schemas.microsoft.com/office/powerpoint/2010/main" val="868713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C78F7-B838-DC96-E9E8-AA9BEDFCD249}"/>
              </a:ext>
            </a:extLst>
          </p:cNvPr>
          <p:cNvSpPr>
            <a:spLocks noGrp="1"/>
          </p:cNvSpPr>
          <p:nvPr>
            <p:ph type="title"/>
          </p:nvPr>
        </p:nvSpPr>
        <p:spPr/>
        <p:txBody>
          <a:bodyPr/>
          <a:lstStyle/>
          <a:p>
            <a:r>
              <a:rPr lang="en-US" dirty="0"/>
              <a:t>Mobile app vs web app</a:t>
            </a:r>
          </a:p>
        </p:txBody>
      </p:sp>
      <p:sp>
        <p:nvSpPr>
          <p:cNvPr id="3" name="Content Placeholder 2">
            <a:extLst>
              <a:ext uri="{FF2B5EF4-FFF2-40B4-BE49-F238E27FC236}">
                <a16:creationId xmlns:a16="http://schemas.microsoft.com/office/drawing/2014/main" id="{CBDFD55D-E551-5013-B4A4-41F390F8126F}"/>
              </a:ext>
            </a:extLst>
          </p:cNvPr>
          <p:cNvSpPr>
            <a:spLocks noGrp="1"/>
          </p:cNvSpPr>
          <p:nvPr>
            <p:ph idx="1"/>
          </p:nvPr>
        </p:nvSpPr>
        <p:spPr/>
        <p:txBody>
          <a:bodyPr>
            <a:normAutofit fontScale="85000" lnSpcReduction="20000"/>
          </a:bodyPr>
          <a:lstStyle/>
          <a:p>
            <a:r>
              <a:rPr lang="en-US" b="1" dirty="0"/>
              <a:t>1. Mobile App</a:t>
            </a:r>
          </a:p>
          <a:p>
            <a:r>
              <a:rPr lang="en-US" dirty="0"/>
              <a:t>A mobile app is an application you download and install on your phone from the Play Store or App Store.</a:t>
            </a:r>
          </a:p>
          <a:p>
            <a:r>
              <a:rPr lang="en-US" b="1" dirty="0"/>
              <a:t>Examples:</a:t>
            </a:r>
            <a:r>
              <a:rPr lang="en-US" dirty="0"/>
              <a:t> WhatsApp, Instagram, Uber</a:t>
            </a:r>
          </a:p>
          <a:p>
            <a:r>
              <a:rPr lang="en-US" dirty="0"/>
              <a:t>Installed on the device </a:t>
            </a:r>
          </a:p>
          <a:p>
            <a:r>
              <a:rPr lang="en-US" dirty="0"/>
              <a:t>Works faster and smoother </a:t>
            </a:r>
          </a:p>
          <a:p>
            <a:r>
              <a:rPr lang="en-US" dirty="0"/>
              <a:t>Can use phone features like camera, GPS, notifications </a:t>
            </a:r>
          </a:p>
          <a:p>
            <a:r>
              <a:rPr lang="en-US" dirty="0"/>
              <a:t>May work offline (some features) </a:t>
            </a:r>
          </a:p>
          <a:p>
            <a:r>
              <a:rPr lang="en-US" dirty="0"/>
              <a:t>Needs updates through app store</a:t>
            </a:r>
          </a:p>
          <a:p>
            <a:endParaRPr lang="en-US" dirty="0"/>
          </a:p>
        </p:txBody>
      </p:sp>
    </p:spTree>
    <p:extLst>
      <p:ext uri="{BB962C8B-B14F-4D97-AF65-F5344CB8AC3E}">
        <p14:creationId xmlns:p14="http://schemas.microsoft.com/office/powerpoint/2010/main" val="15281852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B9189-51F4-72CB-84A0-4088414CE5E2}"/>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CAB66D55-F1D8-13F9-74A3-4F055E1B1C8A}"/>
              </a:ext>
            </a:extLst>
          </p:cNvPr>
          <p:cNvSpPr>
            <a:spLocks noGrp="1"/>
          </p:cNvSpPr>
          <p:nvPr>
            <p:ph idx="1"/>
          </p:nvPr>
        </p:nvSpPr>
        <p:spPr/>
        <p:txBody>
          <a:bodyPr>
            <a:normAutofit fontScale="85000" lnSpcReduction="20000"/>
          </a:bodyPr>
          <a:lstStyle/>
          <a:p>
            <a:r>
              <a:rPr lang="en-US" b="1" dirty="0"/>
              <a:t>2. Web App</a:t>
            </a:r>
          </a:p>
          <a:p>
            <a:r>
              <a:rPr lang="en-US" dirty="0"/>
              <a:t>A web app is an application you use through a web browser like Chrome or Safari. You don’t need to install it.</a:t>
            </a:r>
          </a:p>
          <a:p>
            <a:r>
              <a:rPr lang="en-US" b="1" dirty="0"/>
              <a:t>Examples:</a:t>
            </a:r>
            <a:r>
              <a:rPr lang="en-US" dirty="0"/>
              <a:t> Google Docs, online banking websites, Amazon website</a:t>
            </a:r>
          </a:p>
          <a:p>
            <a:r>
              <a:rPr lang="en-US" dirty="0"/>
              <a:t>Runs in a browser </a:t>
            </a:r>
          </a:p>
          <a:p>
            <a:r>
              <a:rPr lang="en-US" dirty="0"/>
              <a:t>No installation needed </a:t>
            </a:r>
          </a:p>
          <a:p>
            <a:r>
              <a:rPr lang="en-US" dirty="0"/>
              <a:t>Works on any device with internet </a:t>
            </a:r>
          </a:p>
          <a:p>
            <a:r>
              <a:rPr lang="en-US" dirty="0"/>
              <a:t>Usually needs internet to work </a:t>
            </a:r>
          </a:p>
          <a:p>
            <a:r>
              <a:rPr lang="en-US" dirty="0"/>
              <a:t>Easier to maintain and update</a:t>
            </a:r>
          </a:p>
          <a:p>
            <a:endParaRPr lang="en-US" dirty="0"/>
          </a:p>
        </p:txBody>
      </p:sp>
    </p:spTree>
    <p:extLst>
      <p:ext uri="{BB962C8B-B14F-4D97-AF65-F5344CB8AC3E}">
        <p14:creationId xmlns:p14="http://schemas.microsoft.com/office/powerpoint/2010/main" val="31509219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AE48F-AFF4-CB50-FFD5-7743350A4E59}"/>
              </a:ext>
            </a:extLst>
          </p:cNvPr>
          <p:cNvSpPr>
            <a:spLocks noGrp="1"/>
          </p:cNvSpPr>
          <p:nvPr>
            <p:ph type="title"/>
          </p:nvPr>
        </p:nvSpPr>
        <p:spPr/>
        <p:txBody>
          <a:bodyPr/>
          <a:lstStyle/>
          <a:p>
            <a:r>
              <a:rPr lang="en-US" dirty="0"/>
              <a:t>Types of mobile apps</a:t>
            </a:r>
          </a:p>
        </p:txBody>
      </p:sp>
      <p:sp>
        <p:nvSpPr>
          <p:cNvPr id="3" name="Content Placeholder 2">
            <a:extLst>
              <a:ext uri="{FF2B5EF4-FFF2-40B4-BE49-F238E27FC236}">
                <a16:creationId xmlns:a16="http://schemas.microsoft.com/office/drawing/2014/main" id="{9808B0A2-4676-16FF-99C6-BD069753BEF5}"/>
              </a:ext>
            </a:extLst>
          </p:cNvPr>
          <p:cNvSpPr>
            <a:spLocks noGrp="1"/>
          </p:cNvSpPr>
          <p:nvPr>
            <p:ph idx="1"/>
          </p:nvPr>
        </p:nvSpPr>
        <p:spPr/>
        <p:txBody>
          <a:bodyPr>
            <a:normAutofit fontScale="70000" lnSpcReduction="20000"/>
          </a:bodyPr>
          <a:lstStyle/>
          <a:p>
            <a:r>
              <a:rPr lang="en-US" b="1" dirty="0"/>
              <a:t>1. Native Apps (iOS / Android)</a:t>
            </a:r>
          </a:p>
          <a:p>
            <a:r>
              <a:rPr lang="en-US" dirty="0"/>
              <a:t>Native apps are built separately for each platform (iOS or Android).</a:t>
            </a:r>
          </a:p>
          <a:p>
            <a:r>
              <a:rPr lang="en-US" dirty="0"/>
              <a:t>iOS apps are made for Apple devices (iPhone, iPad) </a:t>
            </a:r>
          </a:p>
          <a:p>
            <a:r>
              <a:rPr lang="en-US" dirty="0"/>
              <a:t>Android apps are made for Android phones </a:t>
            </a:r>
          </a:p>
          <a:p>
            <a:r>
              <a:rPr lang="en-US" b="1" dirty="0"/>
              <a:t>Key points:</a:t>
            </a:r>
            <a:endParaRPr lang="en-US" dirty="0"/>
          </a:p>
          <a:p>
            <a:r>
              <a:rPr lang="en-US" dirty="0"/>
              <a:t>Built using platform-specific languages (Swift for iOS, Kotlin/Java for Android) </a:t>
            </a:r>
          </a:p>
          <a:p>
            <a:r>
              <a:rPr lang="en-US" dirty="0"/>
              <a:t>Installed from App Store or Play Store </a:t>
            </a:r>
          </a:p>
          <a:p>
            <a:r>
              <a:rPr lang="en-US" dirty="0"/>
              <a:t>Very fast and smooth performance </a:t>
            </a:r>
          </a:p>
          <a:p>
            <a:r>
              <a:rPr lang="en-US" dirty="0"/>
              <a:t>Can fully use phone features like camera, GPS, contacts, etc. </a:t>
            </a:r>
          </a:p>
          <a:p>
            <a:r>
              <a:rPr lang="en-US" b="1" dirty="0"/>
              <a:t>Example:</a:t>
            </a:r>
            <a:r>
              <a:rPr lang="en-US" dirty="0"/>
              <a:t> WhatsApp, Instagram, Uber</a:t>
            </a:r>
          </a:p>
          <a:p>
            <a:endParaRPr lang="en-US" dirty="0"/>
          </a:p>
        </p:txBody>
      </p:sp>
    </p:spTree>
    <p:extLst>
      <p:ext uri="{BB962C8B-B14F-4D97-AF65-F5344CB8AC3E}">
        <p14:creationId xmlns:p14="http://schemas.microsoft.com/office/powerpoint/2010/main" val="33163319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18B0B-0C2E-C60B-7BBD-8757C11F3B69}"/>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AF1666C4-2F2E-0394-CF1B-4E3C05E65AC4}"/>
              </a:ext>
            </a:extLst>
          </p:cNvPr>
          <p:cNvSpPr>
            <a:spLocks noGrp="1"/>
          </p:cNvSpPr>
          <p:nvPr>
            <p:ph idx="1"/>
          </p:nvPr>
        </p:nvSpPr>
        <p:spPr/>
        <p:txBody>
          <a:bodyPr>
            <a:normAutofit fontScale="85000" lnSpcReduction="20000"/>
          </a:bodyPr>
          <a:lstStyle/>
          <a:p>
            <a:r>
              <a:rPr lang="en-US" b="1" dirty="0"/>
              <a:t>2. Hybrid Apps</a:t>
            </a:r>
          </a:p>
          <a:p>
            <a:r>
              <a:rPr lang="en-US" dirty="0"/>
              <a:t>Hybrid apps are made using one code but can run on both Android and iOS.</a:t>
            </a:r>
          </a:p>
          <a:p>
            <a:r>
              <a:rPr lang="en-US" b="1" dirty="0"/>
              <a:t>Key points:</a:t>
            </a:r>
            <a:endParaRPr lang="en-US" dirty="0"/>
          </a:p>
          <a:p>
            <a:r>
              <a:rPr lang="en-US" dirty="0"/>
              <a:t>One app works on both platforms </a:t>
            </a:r>
          </a:p>
          <a:p>
            <a:r>
              <a:rPr lang="en-US" dirty="0"/>
              <a:t>Built using web technologies like HTML, CSS, JavaScript </a:t>
            </a:r>
          </a:p>
          <a:p>
            <a:r>
              <a:rPr lang="en-US" dirty="0"/>
              <a:t>Works inside a “native container” </a:t>
            </a:r>
          </a:p>
          <a:p>
            <a:r>
              <a:rPr lang="en-US" dirty="0"/>
              <a:t>Faster to develop than native apps </a:t>
            </a:r>
          </a:p>
          <a:p>
            <a:r>
              <a:rPr lang="en-US" dirty="0"/>
              <a:t>Performance is good but slightly less than native apps </a:t>
            </a:r>
          </a:p>
          <a:p>
            <a:r>
              <a:rPr lang="en-US" b="1" dirty="0"/>
              <a:t>Example:</a:t>
            </a:r>
            <a:r>
              <a:rPr lang="en-US" dirty="0"/>
              <a:t> Twitter (some parts), Amazon app (some hybrid features)</a:t>
            </a:r>
          </a:p>
          <a:p>
            <a:endParaRPr lang="en-US" dirty="0"/>
          </a:p>
        </p:txBody>
      </p:sp>
    </p:spTree>
    <p:extLst>
      <p:ext uri="{BB962C8B-B14F-4D97-AF65-F5344CB8AC3E}">
        <p14:creationId xmlns:p14="http://schemas.microsoft.com/office/powerpoint/2010/main" val="35669715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C730B-0E02-AB69-A3E3-3691AAB8B2A8}"/>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1240A064-E85F-577E-260F-F85FEBBEADBE}"/>
              </a:ext>
            </a:extLst>
          </p:cNvPr>
          <p:cNvSpPr>
            <a:spLocks noGrp="1"/>
          </p:cNvSpPr>
          <p:nvPr>
            <p:ph idx="1"/>
          </p:nvPr>
        </p:nvSpPr>
        <p:spPr/>
        <p:txBody>
          <a:bodyPr>
            <a:normAutofit fontScale="85000" lnSpcReduction="20000"/>
          </a:bodyPr>
          <a:lstStyle/>
          <a:p>
            <a:r>
              <a:rPr lang="en-US" b="1" dirty="0"/>
              <a:t>3. Progressive Web Apps (PWA)</a:t>
            </a:r>
          </a:p>
          <a:p>
            <a:r>
              <a:rPr lang="en-US" dirty="0"/>
              <a:t>PWAs are websites that behave like mobile apps.</a:t>
            </a:r>
          </a:p>
          <a:p>
            <a:r>
              <a:rPr lang="en-US" b="1" dirty="0"/>
              <a:t>Key points:</a:t>
            </a:r>
            <a:endParaRPr lang="en-US" dirty="0"/>
          </a:p>
          <a:p>
            <a:r>
              <a:rPr lang="en-US" dirty="0"/>
              <a:t>Open in a browser but feel like an app </a:t>
            </a:r>
          </a:p>
          <a:p>
            <a:r>
              <a:rPr lang="en-US" dirty="0"/>
              <a:t>No need to download from app store </a:t>
            </a:r>
          </a:p>
          <a:p>
            <a:r>
              <a:rPr lang="en-US" dirty="0"/>
              <a:t>Can work offline (in some cases) </a:t>
            </a:r>
          </a:p>
          <a:p>
            <a:r>
              <a:rPr lang="en-US" dirty="0"/>
              <a:t>Can send notifications like apps </a:t>
            </a:r>
          </a:p>
          <a:p>
            <a:r>
              <a:rPr lang="en-US" dirty="0"/>
              <a:t>Easy to update (no installation needed) </a:t>
            </a:r>
          </a:p>
          <a:p>
            <a:r>
              <a:rPr lang="en-US" b="1" dirty="0"/>
              <a:t>Example:</a:t>
            </a:r>
            <a:r>
              <a:rPr lang="en-US" dirty="0"/>
              <a:t> Twitter Lite, Starbucks PWA</a:t>
            </a:r>
          </a:p>
          <a:p>
            <a:endParaRPr lang="en-US" dirty="0"/>
          </a:p>
        </p:txBody>
      </p:sp>
    </p:spTree>
    <p:extLst>
      <p:ext uri="{BB962C8B-B14F-4D97-AF65-F5344CB8AC3E}">
        <p14:creationId xmlns:p14="http://schemas.microsoft.com/office/powerpoint/2010/main" val="5428282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3962E-75E7-EF7C-4205-B7954B08CAFF}"/>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9C3C44D0-D257-CDD2-3F6B-648112071269}"/>
              </a:ext>
            </a:extLst>
          </p:cNvPr>
          <p:cNvSpPr>
            <a:spLocks noGrp="1"/>
          </p:cNvSpPr>
          <p:nvPr>
            <p:ph idx="1"/>
          </p:nvPr>
        </p:nvSpPr>
        <p:spPr/>
        <p:txBody>
          <a:bodyPr>
            <a:normAutofit fontScale="85000" lnSpcReduction="20000"/>
          </a:bodyPr>
          <a:lstStyle/>
          <a:p>
            <a:r>
              <a:rPr lang="en-US" b="1" dirty="0"/>
              <a:t>4. Role of Mobile Apps in Business</a:t>
            </a:r>
          </a:p>
          <a:p>
            <a:r>
              <a:rPr lang="en-US" dirty="0"/>
              <a:t>Mobile apps are very important for modern businesses.</a:t>
            </a:r>
          </a:p>
          <a:p>
            <a:r>
              <a:rPr lang="en-US" b="1" dirty="0"/>
              <a:t>Key points:</a:t>
            </a:r>
            <a:endParaRPr lang="en-US" dirty="0"/>
          </a:p>
          <a:p>
            <a:r>
              <a:rPr lang="en-US" b="1" dirty="0"/>
              <a:t>Increase sales:</a:t>
            </a:r>
            <a:r>
              <a:rPr lang="en-US" dirty="0"/>
              <a:t> Customers can buy products anytime </a:t>
            </a:r>
          </a:p>
          <a:p>
            <a:r>
              <a:rPr lang="en-US" b="1" dirty="0"/>
              <a:t>Better customer service:</a:t>
            </a:r>
            <a:r>
              <a:rPr lang="en-US" dirty="0"/>
              <a:t> Easy communication and support </a:t>
            </a:r>
          </a:p>
          <a:p>
            <a:r>
              <a:rPr lang="en-US" b="1" dirty="0"/>
              <a:t>Marketing tool:</a:t>
            </a:r>
            <a:r>
              <a:rPr lang="en-US" dirty="0"/>
              <a:t> Send offers, discounts, and notifications </a:t>
            </a:r>
          </a:p>
          <a:p>
            <a:r>
              <a:rPr lang="en-US" b="1" dirty="0"/>
              <a:t>Brand presence:</a:t>
            </a:r>
            <a:r>
              <a:rPr lang="en-US" dirty="0"/>
              <a:t> Keeps business always on customers’ phones </a:t>
            </a:r>
          </a:p>
          <a:p>
            <a:r>
              <a:rPr lang="en-US" b="1" dirty="0"/>
              <a:t>Easy management:</a:t>
            </a:r>
            <a:r>
              <a:rPr lang="en-US" dirty="0"/>
              <a:t> Track orders, sales, and employees </a:t>
            </a:r>
          </a:p>
          <a:p>
            <a:r>
              <a:rPr lang="en-US" b="1" dirty="0"/>
              <a:t>Customer engagement:</a:t>
            </a:r>
            <a:r>
              <a:rPr lang="en-US" dirty="0"/>
              <a:t> Keeps users connected with the business</a:t>
            </a:r>
          </a:p>
          <a:p>
            <a:endParaRPr lang="en-US" dirty="0"/>
          </a:p>
        </p:txBody>
      </p:sp>
    </p:spTree>
    <p:extLst>
      <p:ext uri="{BB962C8B-B14F-4D97-AF65-F5344CB8AC3E}">
        <p14:creationId xmlns:p14="http://schemas.microsoft.com/office/powerpoint/2010/main" val="3389063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2366F-F7F9-9C4D-4992-1E8B1D9BA9DD}"/>
              </a:ext>
            </a:extLst>
          </p:cNvPr>
          <p:cNvSpPr>
            <a:spLocks noGrp="1"/>
          </p:cNvSpPr>
          <p:nvPr>
            <p:ph type="title"/>
          </p:nvPr>
        </p:nvSpPr>
        <p:spPr/>
        <p:txBody>
          <a:bodyPr/>
          <a:lstStyle/>
          <a:p>
            <a:r>
              <a:rPr lang="en-US" dirty="0"/>
              <a:t>Mobile app designing &amp; planning</a:t>
            </a:r>
          </a:p>
        </p:txBody>
      </p:sp>
      <p:sp>
        <p:nvSpPr>
          <p:cNvPr id="3" name="Content Placeholder 2">
            <a:extLst>
              <a:ext uri="{FF2B5EF4-FFF2-40B4-BE49-F238E27FC236}">
                <a16:creationId xmlns:a16="http://schemas.microsoft.com/office/drawing/2014/main" id="{8082F7E9-E564-4965-39E9-A9CC2B7DCE80}"/>
              </a:ext>
            </a:extLst>
          </p:cNvPr>
          <p:cNvSpPr>
            <a:spLocks noGrp="1"/>
          </p:cNvSpPr>
          <p:nvPr>
            <p:ph idx="1"/>
          </p:nvPr>
        </p:nvSpPr>
        <p:spPr/>
        <p:txBody>
          <a:bodyPr>
            <a:normAutofit fontScale="85000" lnSpcReduction="10000"/>
          </a:bodyPr>
          <a:lstStyle/>
          <a:p>
            <a:r>
              <a:rPr lang="en-US" dirty="0"/>
              <a:t>Mobile app designing and planning is basically the process of </a:t>
            </a:r>
            <a:r>
              <a:rPr lang="en-US" b="1" dirty="0"/>
              <a:t>thinking, organizing, and creating an app before building it</a:t>
            </a:r>
            <a:r>
              <a:rPr lang="en-US" dirty="0"/>
              <a:t>. If you skip planning, the app often becomes confusing, slow, or useless for users.</a:t>
            </a:r>
          </a:p>
          <a:p>
            <a:r>
              <a:rPr lang="en-US" b="1" dirty="0"/>
              <a:t>1. Understanding the Purpose of the App</a:t>
            </a:r>
          </a:p>
          <a:p>
            <a:r>
              <a:rPr lang="en-US" dirty="0"/>
              <a:t>First, you decide why the app is being made.</a:t>
            </a:r>
          </a:p>
          <a:p>
            <a:r>
              <a:rPr lang="en-US" dirty="0"/>
              <a:t>app solve? </a:t>
            </a:r>
          </a:p>
          <a:p>
            <a:r>
              <a:rPr lang="en-US" dirty="0"/>
              <a:t>Who will use it? (students, teachers, customers, etc.) </a:t>
            </a:r>
          </a:p>
          <a:p>
            <a:r>
              <a:rPr lang="en-US" dirty="0"/>
              <a:t>What is the main goal? (learning, shopping, communication) </a:t>
            </a:r>
          </a:p>
          <a:p>
            <a:r>
              <a:rPr lang="en-US" dirty="0"/>
              <a:t>Example: A student app might help users check results, assignments, and notices</a:t>
            </a:r>
          </a:p>
          <a:p>
            <a:endParaRPr lang="en-US" dirty="0"/>
          </a:p>
        </p:txBody>
      </p:sp>
    </p:spTree>
    <p:extLst>
      <p:ext uri="{BB962C8B-B14F-4D97-AF65-F5344CB8AC3E}">
        <p14:creationId xmlns:p14="http://schemas.microsoft.com/office/powerpoint/2010/main" val="29829327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A29C2-6E43-3488-31FC-76C95BE46462}"/>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322A5AD0-14D6-941A-0F46-3C5556C278EC}"/>
              </a:ext>
            </a:extLst>
          </p:cNvPr>
          <p:cNvSpPr>
            <a:spLocks noGrp="1"/>
          </p:cNvSpPr>
          <p:nvPr>
            <p:ph idx="1"/>
          </p:nvPr>
        </p:nvSpPr>
        <p:spPr/>
        <p:txBody>
          <a:bodyPr/>
          <a:lstStyle/>
          <a:p>
            <a:r>
              <a:rPr lang="en-US" b="1" dirty="0"/>
              <a:t>2. Research and Idea Validation</a:t>
            </a:r>
          </a:p>
          <a:p>
            <a:r>
              <a:rPr lang="en-US" dirty="0"/>
              <a:t>Before building anything, check if your idea makes sense.</a:t>
            </a:r>
          </a:p>
          <a:p>
            <a:r>
              <a:rPr lang="en-US" dirty="0"/>
              <a:t>Look at similar apps </a:t>
            </a:r>
          </a:p>
          <a:p>
            <a:r>
              <a:rPr lang="en-US" dirty="0"/>
              <a:t>See what they do well and what they lack </a:t>
            </a:r>
          </a:p>
          <a:p>
            <a:r>
              <a:rPr lang="en-US" dirty="0"/>
              <a:t>Understand user needs</a:t>
            </a:r>
          </a:p>
          <a:p>
            <a:endParaRPr lang="en-US" dirty="0"/>
          </a:p>
        </p:txBody>
      </p:sp>
    </p:spTree>
    <p:extLst>
      <p:ext uri="{BB962C8B-B14F-4D97-AF65-F5344CB8AC3E}">
        <p14:creationId xmlns:p14="http://schemas.microsoft.com/office/powerpoint/2010/main" val="23790871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F8A72-592E-BB02-F9DB-0931E3A024F9}"/>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8A6F11DA-B5BE-FD4C-84C9-A5E22EE7438D}"/>
              </a:ext>
            </a:extLst>
          </p:cNvPr>
          <p:cNvSpPr>
            <a:spLocks noGrp="1"/>
          </p:cNvSpPr>
          <p:nvPr>
            <p:ph idx="1"/>
          </p:nvPr>
        </p:nvSpPr>
        <p:spPr/>
        <p:txBody>
          <a:bodyPr>
            <a:normAutofit fontScale="85000" lnSpcReduction="20000"/>
          </a:bodyPr>
          <a:lstStyle/>
          <a:p>
            <a:r>
              <a:rPr lang="en-US" b="1" dirty="0"/>
              <a:t>3. Define Features (What the App Will Do)</a:t>
            </a:r>
          </a:p>
          <a:p>
            <a:r>
              <a:rPr lang="en-US" dirty="0"/>
              <a:t>List all the functions your app should have.</a:t>
            </a:r>
          </a:p>
          <a:p>
            <a:r>
              <a:rPr lang="en-US" dirty="0"/>
              <a:t>Basic features:       Login / Signup </a:t>
            </a:r>
          </a:p>
          <a:p>
            <a:r>
              <a:rPr lang="en-US" dirty="0"/>
              <a:t>Dashboard      Search </a:t>
            </a:r>
          </a:p>
          <a:p>
            <a:r>
              <a:rPr lang="en-US" dirty="0"/>
              <a:t>Notifications </a:t>
            </a:r>
          </a:p>
          <a:p>
            <a:pPr marL="0" indent="0">
              <a:buNone/>
            </a:pPr>
            <a:r>
              <a:rPr lang="en-US" dirty="0"/>
              <a:t>Example (Student App):</a:t>
            </a:r>
          </a:p>
          <a:p>
            <a:r>
              <a:rPr lang="en-US" dirty="0"/>
              <a:t>View results </a:t>
            </a:r>
          </a:p>
          <a:p>
            <a:r>
              <a:rPr lang="en-US" dirty="0"/>
              <a:t>View timetable </a:t>
            </a:r>
          </a:p>
          <a:p>
            <a:r>
              <a:rPr lang="en-US" dirty="0"/>
              <a:t>Download assignments</a:t>
            </a:r>
          </a:p>
          <a:p>
            <a:endParaRPr lang="en-US" dirty="0"/>
          </a:p>
        </p:txBody>
      </p:sp>
    </p:spTree>
    <p:extLst>
      <p:ext uri="{BB962C8B-B14F-4D97-AF65-F5344CB8AC3E}">
        <p14:creationId xmlns:p14="http://schemas.microsoft.com/office/powerpoint/2010/main" val="18265860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66400-97AC-3779-11AA-FC1EB8417556}"/>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4B2F03C8-62BE-E016-BBCB-95CA0714090E}"/>
              </a:ext>
            </a:extLst>
          </p:cNvPr>
          <p:cNvSpPr>
            <a:spLocks noGrp="1"/>
          </p:cNvSpPr>
          <p:nvPr>
            <p:ph idx="1"/>
          </p:nvPr>
        </p:nvSpPr>
        <p:spPr/>
        <p:txBody>
          <a:bodyPr>
            <a:normAutofit fontScale="70000" lnSpcReduction="20000"/>
          </a:bodyPr>
          <a:lstStyle/>
          <a:p>
            <a:r>
              <a:rPr lang="en-US" b="1" dirty="0"/>
              <a:t>4. Wireframing (Basic Layout Design)</a:t>
            </a:r>
          </a:p>
          <a:p>
            <a:r>
              <a:rPr lang="en-US" dirty="0"/>
              <a:t>Wireframe means </a:t>
            </a:r>
            <a:r>
              <a:rPr lang="en-US" b="1" dirty="0"/>
              <a:t>a simple sketch of your app screens</a:t>
            </a:r>
            <a:r>
              <a:rPr lang="en-US" dirty="0"/>
              <a:t>.</a:t>
            </a:r>
          </a:p>
          <a:p>
            <a:r>
              <a:rPr lang="en-US" dirty="0"/>
              <a:t>No colors, just structure:</a:t>
            </a:r>
          </a:p>
          <a:p>
            <a:r>
              <a:rPr lang="en-US" dirty="0"/>
              <a:t>Where buttons go </a:t>
            </a:r>
          </a:p>
          <a:p>
            <a:r>
              <a:rPr lang="en-US" dirty="0"/>
              <a:t>Where text appears </a:t>
            </a:r>
          </a:p>
          <a:p>
            <a:r>
              <a:rPr lang="en-US" dirty="0"/>
              <a:t>Screen flow </a:t>
            </a:r>
          </a:p>
          <a:p>
            <a:pPr marL="0" indent="0">
              <a:buNone/>
            </a:pPr>
            <a:r>
              <a:rPr lang="en-US" dirty="0"/>
              <a:t> Think of it like a rough drawing of each screen.</a:t>
            </a:r>
          </a:p>
          <a:p>
            <a:r>
              <a:rPr lang="en-US" dirty="0"/>
              <a:t>Tools you can use:</a:t>
            </a:r>
          </a:p>
          <a:p>
            <a:r>
              <a:rPr lang="en-US" dirty="0"/>
              <a:t>Figma </a:t>
            </a:r>
          </a:p>
          <a:p>
            <a:r>
              <a:rPr lang="en-US" dirty="0"/>
              <a:t>Adobe XD</a:t>
            </a:r>
          </a:p>
          <a:p>
            <a:endParaRPr lang="en-US" dirty="0"/>
          </a:p>
        </p:txBody>
      </p:sp>
    </p:spTree>
    <p:extLst>
      <p:ext uri="{BB962C8B-B14F-4D97-AF65-F5344CB8AC3E}">
        <p14:creationId xmlns:p14="http://schemas.microsoft.com/office/powerpoint/2010/main" val="29620616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C2E02-CC37-EE89-5D54-D49B148027B7}"/>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D6E32BAF-4B2C-2481-2D72-DF3BB2F75668}"/>
              </a:ext>
            </a:extLst>
          </p:cNvPr>
          <p:cNvSpPr>
            <a:spLocks noGrp="1"/>
          </p:cNvSpPr>
          <p:nvPr>
            <p:ph idx="1"/>
          </p:nvPr>
        </p:nvSpPr>
        <p:spPr/>
        <p:txBody>
          <a:bodyPr>
            <a:normAutofit fontScale="92500" lnSpcReduction="20000"/>
          </a:bodyPr>
          <a:lstStyle/>
          <a:p>
            <a:r>
              <a:rPr lang="en-US" b="1" dirty="0"/>
              <a:t>5. UI Design (User Interface)</a:t>
            </a:r>
          </a:p>
          <a:p>
            <a:r>
              <a:rPr lang="en-US" dirty="0"/>
              <a:t>Now you make the app </a:t>
            </a:r>
            <a:r>
              <a:rPr lang="en-US" b="1" dirty="0"/>
              <a:t>look good</a:t>
            </a:r>
            <a:r>
              <a:rPr lang="en-US" dirty="0"/>
              <a:t>.</a:t>
            </a:r>
          </a:p>
          <a:p>
            <a:r>
              <a:rPr lang="en-US" dirty="0"/>
              <a:t>This includes:</a:t>
            </a:r>
          </a:p>
          <a:p>
            <a:r>
              <a:rPr lang="en-US" dirty="0"/>
              <a:t>Colors </a:t>
            </a:r>
          </a:p>
          <a:p>
            <a:r>
              <a:rPr lang="en-US" dirty="0"/>
              <a:t>Fonts </a:t>
            </a:r>
          </a:p>
          <a:p>
            <a:r>
              <a:rPr lang="en-US" dirty="0"/>
              <a:t>Buttons </a:t>
            </a:r>
          </a:p>
          <a:p>
            <a:r>
              <a:rPr lang="en-US" dirty="0"/>
              <a:t>Icons </a:t>
            </a:r>
          </a:p>
          <a:p>
            <a:r>
              <a:rPr lang="en-US" dirty="0"/>
              <a:t> Goal: Make it </a:t>
            </a:r>
            <a:r>
              <a:rPr lang="en-US" b="1" dirty="0"/>
              <a:t>clean and attractive</a:t>
            </a:r>
            <a:endParaRPr lang="en-US" dirty="0"/>
          </a:p>
          <a:p>
            <a:endParaRPr lang="en-US" dirty="0"/>
          </a:p>
        </p:txBody>
      </p:sp>
    </p:spTree>
    <p:extLst>
      <p:ext uri="{BB962C8B-B14F-4D97-AF65-F5344CB8AC3E}">
        <p14:creationId xmlns:p14="http://schemas.microsoft.com/office/powerpoint/2010/main" val="23164329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D3FA6-B5C1-52FE-F42E-FA47BD3DCF4D}"/>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A70E5D4E-B8CD-3056-85F6-591C2456ECDF}"/>
              </a:ext>
            </a:extLst>
          </p:cNvPr>
          <p:cNvSpPr>
            <a:spLocks noGrp="1"/>
          </p:cNvSpPr>
          <p:nvPr>
            <p:ph idx="1"/>
          </p:nvPr>
        </p:nvSpPr>
        <p:spPr/>
        <p:txBody>
          <a:bodyPr/>
          <a:lstStyle/>
          <a:p>
            <a:r>
              <a:rPr lang="en-US" b="1" dirty="0"/>
              <a:t>6. UX Design (User Experience)</a:t>
            </a:r>
          </a:p>
          <a:p>
            <a:r>
              <a:rPr lang="en-US" dirty="0"/>
              <a:t>UX focuses on </a:t>
            </a:r>
            <a:r>
              <a:rPr lang="en-US" b="1" dirty="0"/>
              <a:t>how easy the app is to use</a:t>
            </a:r>
            <a:r>
              <a:rPr lang="en-US" dirty="0"/>
              <a:t>.</a:t>
            </a:r>
          </a:p>
          <a:p>
            <a:r>
              <a:rPr lang="en-US" dirty="0"/>
              <a:t>Ask:</a:t>
            </a:r>
          </a:p>
          <a:p>
            <a:r>
              <a:rPr lang="en-US" dirty="0"/>
              <a:t>Is navigation simple? </a:t>
            </a:r>
          </a:p>
          <a:p>
            <a:r>
              <a:rPr lang="en-US" dirty="0"/>
              <a:t>Can users find things quickly? </a:t>
            </a:r>
          </a:p>
          <a:p>
            <a:r>
              <a:rPr lang="en-US" dirty="0"/>
              <a:t>Is it confusing or smooth? </a:t>
            </a:r>
          </a:p>
          <a:p>
            <a:r>
              <a:rPr lang="en-US" dirty="0"/>
              <a:t> Good UX = user is happy and doesn’t struggle.</a:t>
            </a:r>
          </a:p>
          <a:p>
            <a:endParaRPr lang="en-US" dirty="0"/>
          </a:p>
        </p:txBody>
      </p:sp>
    </p:spTree>
    <p:extLst>
      <p:ext uri="{BB962C8B-B14F-4D97-AF65-F5344CB8AC3E}">
        <p14:creationId xmlns:p14="http://schemas.microsoft.com/office/powerpoint/2010/main" val="18015996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B9AF8-841E-D39B-E946-59AAA9B4BE79}"/>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B01BF5D2-7C76-3D0E-E88D-DDBFF3D3345D}"/>
              </a:ext>
            </a:extLst>
          </p:cNvPr>
          <p:cNvSpPr>
            <a:spLocks noGrp="1"/>
          </p:cNvSpPr>
          <p:nvPr>
            <p:ph idx="1"/>
          </p:nvPr>
        </p:nvSpPr>
        <p:spPr/>
        <p:txBody>
          <a:bodyPr>
            <a:normAutofit fontScale="85000" lnSpcReduction="20000"/>
          </a:bodyPr>
          <a:lstStyle/>
          <a:p>
            <a:r>
              <a:rPr lang="en-US" b="1" dirty="0"/>
              <a:t>7. Choosing App Type</a:t>
            </a:r>
          </a:p>
          <a:p>
            <a:r>
              <a:rPr lang="en-US" dirty="0"/>
              <a:t>Decide how the app will be built.</a:t>
            </a:r>
          </a:p>
          <a:p>
            <a:r>
              <a:rPr lang="en-US" b="1" dirty="0"/>
              <a:t>Types:</a:t>
            </a:r>
          </a:p>
          <a:p>
            <a:r>
              <a:rPr lang="en-US" dirty="0"/>
              <a:t>Native Apps (Android / iOS separately) </a:t>
            </a:r>
          </a:p>
          <a:p>
            <a:r>
              <a:rPr lang="en-US" dirty="0"/>
              <a:t>Hybrid Apps (one code for both) </a:t>
            </a:r>
          </a:p>
          <a:p>
            <a:r>
              <a:rPr lang="en-US" dirty="0"/>
              <a:t>PWA (runs in browser like app) </a:t>
            </a:r>
          </a:p>
          <a:p>
            <a:r>
              <a:rPr lang="en-US" dirty="0"/>
              <a:t>Example tools:</a:t>
            </a:r>
          </a:p>
          <a:p>
            <a:r>
              <a:rPr lang="en-US" dirty="0"/>
              <a:t>Flutter </a:t>
            </a:r>
          </a:p>
          <a:p>
            <a:r>
              <a:rPr lang="en-US" dirty="0"/>
              <a:t>React Native</a:t>
            </a:r>
          </a:p>
          <a:p>
            <a:endParaRPr lang="en-US" dirty="0"/>
          </a:p>
        </p:txBody>
      </p:sp>
    </p:spTree>
    <p:extLst>
      <p:ext uri="{BB962C8B-B14F-4D97-AF65-F5344CB8AC3E}">
        <p14:creationId xmlns:p14="http://schemas.microsoft.com/office/powerpoint/2010/main" val="20145524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2DBA3-3E4E-4A4B-59B8-FDDB2424DB58}"/>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17FF5900-D2F0-7CBC-A379-F6874B51422A}"/>
              </a:ext>
            </a:extLst>
          </p:cNvPr>
          <p:cNvSpPr>
            <a:spLocks noGrp="1"/>
          </p:cNvSpPr>
          <p:nvPr>
            <p:ph idx="1"/>
          </p:nvPr>
        </p:nvSpPr>
        <p:spPr/>
        <p:txBody>
          <a:bodyPr>
            <a:normAutofit/>
          </a:bodyPr>
          <a:lstStyle/>
          <a:p>
            <a:r>
              <a:rPr lang="en-US" b="1" dirty="0"/>
              <a:t>8. Planning the Backend (Data &amp; Storage)</a:t>
            </a:r>
          </a:p>
          <a:p>
            <a:r>
              <a:rPr lang="en-US" dirty="0"/>
              <a:t>This is the </a:t>
            </a:r>
            <a:r>
              <a:rPr lang="en-US" b="1" dirty="0"/>
              <a:t>behind-the-scenes part</a:t>
            </a:r>
            <a:r>
              <a:rPr lang="en-US" dirty="0"/>
              <a:t>.</a:t>
            </a:r>
          </a:p>
          <a:p>
            <a:r>
              <a:rPr lang="en-US" dirty="0"/>
              <a:t>It handles:</a:t>
            </a:r>
          </a:p>
          <a:p>
            <a:r>
              <a:rPr lang="en-US" dirty="0"/>
              <a:t>User data </a:t>
            </a:r>
          </a:p>
          <a:p>
            <a:r>
              <a:rPr lang="en-US" dirty="0"/>
              <a:t>Login system </a:t>
            </a:r>
          </a:p>
          <a:p>
            <a:r>
              <a:rPr lang="en-US" dirty="0"/>
              <a:t>Database </a:t>
            </a:r>
          </a:p>
          <a:p>
            <a:r>
              <a:rPr lang="en-US" dirty="0" err="1"/>
              <a:t>Example:When</a:t>
            </a:r>
            <a:r>
              <a:rPr lang="en-US" dirty="0"/>
              <a:t> you log into an app, your data is stored on a server.</a:t>
            </a:r>
          </a:p>
          <a:p>
            <a:endParaRPr lang="en-US" dirty="0"/>
          </a:p>
        </p:txBody>
      </p:sp>
    </p:spTree>
    <p:extLst>
      <p:ext uri="{BB962C8B-B14F-4D97-AF65-F5344CB8AC3E}">
        <p14:creationId xmlns:p14="http://schemas.microsoft.com/office/powerpoint/2010/main" val="6454621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49352-7862-5A92-73C6-CB664E44445F}"/>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736E697F-4E83-590B-E359-0E42CA3D6544}"/>
              </a:ext>
            </a:extLst>
          </p:cNvPr>
          <p:cNvSpPr>
            <a:spLocks noGrp="1"/>
          </p:cNvSpPr>
          <p:nvPr>
            <p:ph idx="1"/>
          </p:nvPr>
        </p:nvSpPr>
        <p:spPr/>
        <p:txBody>
          <a:bodyPr>
            <a:normAutofit/>
          </a:bodyPr>
          <a:lstStyle/>
          <a:p>
            <a:r>
              <a:rPr lang="en-US" b="1" dirty="0"/>
              <a:t>9. Testing the App</a:t>
            </a:r>
          </a:p>
          <a:p>
            <a:r>
              <a:rPr lang="en-US" dirty="0"/>
              <a:t>Before launching, test everything.</a:t>
            </a:r>
          </a:p>
          <a:p>
            <a:r>
              <a:rPr lang="en-US" dirty="0"/>
              <a:t>Check:</a:t>
            </a:r>
          </a:p>
          <a:p>
            <a:r>
              <a:rPr lang="en-US" dirty="0"/>
              <a:t>Bugs (errors) </a:t>
            </a:r>
          </a:p>
          <a:p>
            <a:r>
              <a:rPr lang="en-US" dirty="0"/>
              <a:t>Speed </a:t>
            </a:r>
          </a:p>
          <a:p>
            <a:r>
              <a:rPr lang="en-US" dirty="0"/>
              <a:t>Design issues </a:t>
            </a:r>
          </a:p>
          <a:p>
            <a:pPr marL="0" indent="0">
              <a:buNone/>
            </a:pPr>
            <a:r>
              <a:rPr lang="en-US" dirty="0"/>
              <a:t> Example: Click every button and see if it works correctly.</a:t>
            </a:r>
          </a:p>
          <a:p>
            <a:endParaRPr lang="en-US" dirty="0"/>
          </a:p>
        </p:txBody>
      </p:sp>
    </p:spTree>
    <p:extLst>
      <p:ext uri="{BB962C8B-B14F-4D97-AF65-F5344CB8AC3E}">
        <p14:creationId xmlns:p14="http://schemas.microsoft.com/office/powerpoint/2010/main" val="338750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D303F-0ED5-04C2-EB95-AF61E89476C1}"/>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EFA70102-BDDD-2C1B-70A9-CD89F1298F7A}"/>
              </a:ext>
            </a:extLst>
          </p:cNvPr>
          <p:cNvSpPr>
            <a:spLocks noGrp="1"/>
          </p:cNvSpPr>
          <p:nvPr>
            <p:ph idx="1"/>
          </p:nvPr>
        </p:nvSpPr>
        <p:spPr/>
        <p:txBody>
          <a:bodyPr/>
          <a:lstStyle/>
          <a:p>
            <a:r>
              <a:rPr lang="en-US" b="1" dirty="0"/>
              <a:t>10. Launch and Maintenance</a:t>
            </a:r>
          </a:p>
          <a:p>
            <a:r>
              <a:rPr lang="en-US" dirty="0"/>
              <a:t>After testing:</a:t>
            </a:r>
          </a:p>
          <a:p>
            <a:r>
              <a:rPr lang="en-US" dirty="0"/>
              <a:t>Publish app on Play Store or App Store </a:t>
            </a:r>
          </a:p>
          <a:p>
            <a:r>
              <a:rPr lang="en-US" dirty="0"/>
              <a:t>Fix issues based on user feedback </a:t>
            </a:r>
          </a:p>
          <a:p>
            <a:r>
              <a:rPr lang="en-US" dirty="0"/>
              <a:t>Add updates</a:t>
            </a:r>
          </a:p>
          <a:p>
            <a:endParaRPr lang="en-US" dirty="0"/>
          </a:p>
        </p:txBody>
      </p:sp>
    </p:spTree>
    <p:extLst>
      <p:ext uri="{BB962C8B-B14F-4D97-AF65-F5344CB8AC3E}">
        <p14:creationId xmlns:p14="http://schemas.microsoft.com/office/powerpoint/2010/main" val="10008011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6404F-7064-83D7-7BB5-0FF7459ADAE9}"/>
              </a:ext>
            </a:extLst>
          </p:cNvPr>
          <p:cNvSpPr>
            <a:spLocks noGrp="1"/>
          </p:cNvSpPr>
          <p:nvPr>
            <p:ph type="title"/>
          </p:nvPr>
        </p:nvSpPr>
        <p:spPr/>
        <p:txBody>
          <a:bodyPr/>
          <a:lstStyle/>
          <a:p>
            <a:r>
              <a:rPr lang="en-US" dirty="0"/>
              <a:t>What is Use case diagram</a:t>
            </a:r>
          </a:p>
        </p:txBody>
      </p:sp>
      <p:sp>
        <p:nvSpPr>
          <p:cNvPr id="3" name="Content Placeholder 2">
            <a:extLst>
              <a:ext uri="{FF2B5EF4-FFF2-40B4-BE49-F238E27FC236}">
                <a16:creationId xmlns:a16="http://schemas.microsoft.com/office/drawing/2014/main" id="{3279937C-D4A2-177C-636B-1E9F166DE4DD}"/>
              </a:ext>
            </a:extLst>
          </p:cNvPr>
          <p:cNvSpPr>
            <a:spLocks noGrp="1"/>
          </p:cNvSpPr>
          <p:nvPr>
            <p:ph idx="1"/>
          </p:nvPr>
        </p:nvSpPr>
        <p:spPr/>
        <p:txBody>
          <a:bodyPr>
            <a:normAutofit fontScale="92500" lnSpcReduction="10000"/>
          </a:bodyPr>
          <a:lstStyle/>
          <a:p>
            <a:r>
              <a:rPr lang="en-US" dirty="0"/>
              <a:t>A Use Case Diagram is a simple visual way to show who uses a system (actors) and what they can do (interactions/use cases). It’s part of Unified Modeling Language and is often used early in planning.</a:t>
            </a:r>
          </a:p>
          <a:p>
            <a:r>
              <a:rPr lang="en-US" dirty="0"/>
              <a:t>It shows:</a:t>
            </a:r>
          </a:p>
          <a:p>
            <a:r>
              <a:rPr lang="en-US" b="1" dirty="0"/>
              <a:t>Actors</a:t>
            </a:r>
            <a:r>
              <a:rPr lang="en-US" dirty="0"/>
              <a:t> - people or systems that use the app </a:t>
            </a:r>
          </a:p>
          <a:p>
            <a:r>
              <a:rPr lang="en-US" b="1" dirty="0"/>
              <a:t>Use Cases</a:t>
            </a:r>
            <a:r>
              <a:rPr lang="en-US" dirty="0"/>
              <a:t> - actions they perform </a:t>
            </a:r>
          </a:p>
          <a:p>
            <a:r>
              <a:rPr lang="en-US" b="1" dirty="0"/>
              <a:t>System Boundary</a:t>
            </a:r>
            <a:r>
              <a:rPr lang="en-US" dirty="0"/>
              <a:t> - the app itself </a:t>
            </a:r>
          </a:p>
          <a:p>
            <a:r>
              <a:rPr lang="en-US" dirty="0"/>
              <a:t>Who interacts with the system and what they do</a:t>
            </a:r>
          </a:p>
          <a:p>
            <a:endParaRPr lang="en-US" dirty="0"/>
          </a:p>
        </p:txBody>
      </p:sp>
      <p:pic>
        <p:nvPicPr>
          <p:cNvPr id="5" name="Picture 4">
            <a:extLst>
              <a:ext uri="{FF2B5EF4-FFF2-40B4-BE49-F238E27FC236}">
                <a16:creationId xmlns:a16="http://schemas.microsoft.com/office/drawing/2014/main" id="{EB29B623-2DCF-CEBA-276A-FF19F6FE15B4}"/>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926338" y="2911602"/>
            <a:ext cx="5143500" cy="2095500"/>
          </a:xfrm>
          <a:prstGeom prst="rect">
            <a:avLst/>
          </a:prstGeom>
        </p:spPr>
      </p:pic>
      <p:sp>
        <p:nvSpPr>
          <p:cNvPr id="6" name="TextBox 5">
            <a:extLst>
              <a:ext uri="{FF2B5EF4-FFF2-40B4-BE49-F238E27FC236}">
                <a16:creationId xmlns:a16="http://schemas.microsoft.com/office/drawing/2014/main" id="{4DF34E3C-21FA-5FE5-5027-391AAB1D5EDB}"/>
              </a:ext>
            </a:extLst>
          </p:cNvPr>
          <p:cNvSpPr txBox="1"/>
          <p:nvPr/>
        </p:nvSpPr>
        <p:spPr>
          <a:xfrm>
            <a:off x="7831594" y="5007102"/>
            <a:ext cx="5143500" cy="230832"/>
          </a:xfrm>
          <a:prstGeom prst="rect">
            <a:avLst/>
          </a:prstGeom>
          <a:noFill/>
        </p:spPr>
        <p:txBody>
          <a:bodyPr wrap="square" rtlCol="0">
            <a:spAutoFit/>
          </a:bodyPr>
          <a:lstStyle/>
          <a:p>
            <a:r>
              <a:rPr lang="en-US" sz="900" dirty="0">
                <a:hlinkClick r:id="rId3" tooltip="https://simpleisbetterthancomplex.com/series/2017/09/11/a-complete-beginners-guide-to-django-part-2.html"/>
              </a:rPr>
              <a:t>This Photo</a:t>
            </a:r>
            <a:r>
              <a:rPr lang="en-US" sz="900" dirty="0"/>
              <a:t> by Unknown Author is licensed under </a:t>
            </a:r>
            <a:r>
              <a:rPr lang="en-US" sz="900" dirty="0">
                <a:hlinkClick r:id="rId4" tooltip="https://creativecommons.org/licenses/by-nc-sa/3.0/"/>
              </a:rPr>
              <a:t>CC BY-SA-NC</a:t>
            </a:r>
            <a:endParaRPr lang="en-US" sz="900" dirty="0"/>
          </a:p>
        </p:txBody>
      </p:sp>
    </p:spTree>
    <p:extLst>
      <p:ext uri="{BB962C8B-B14F-4D97-AF65-F5344CB8AC3E}">
        <p14:creationId xmlns:p14="http://schemas.microsoft.com/office/powerpoint/2010/main" val="33537769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AFD6E-8C41-1F7E-4142-D21624B52BB2}"/>
              </a:ext>
            </a:extLst>
          </p:cNvPr>
          <p:cNvSpPr>
            <a:spLocks noGrp="1"/>
          </p:cNvSpPr>
          <p:nvPr>
            <p:ph type="title"/>
          </p:nvPr>
        </p:nvSpPr>
        <p:spPr/>
        <p:txBody>
          <a:bodyPr/>
          <a:lstStyle/>
          <a:p>
            <a:r>
              <a:rPr lang="en-US" dirty="0"/>
              <a:t>Main elements</a:t>
            </a:r>
          </a:p>
        </p:txBody>
      </p:sp>
      <p:sp>
        <p:nvSpPr>
          <p:cNvPr id="3" name="Content Placeholder 2">
            <a:extLst>
              <a:ext uri="{FF2B5EF4-FFF2-40B4-BE49-F238E27FC236}">
                <a16:creationId xmlns:a16="http://schemas.microsoft.com/office/drawing/2014/main" id="{801E015D-64A7-7438-3287-66EDD3FC07FD}"/>
              </a:ext>
            </a:extLst>
          </p:cNvPr>
          <p:cNvSpPr>
            <a:spLocks noGrp="1"/>
          </p:cNvSpPr>
          <p:nvPr>
            <p:ph idx="1"/>
          </p:nvPr>
        </p:nvSpPr>
        <p:spPr/>
        <p:txBody>
          <a:bodyPr>
            <a:normAutofit fontScale="92500" lnSpcReduction="20000"/>
          </a:bodyPr>
          <a:lstStyle/>
          <a:p>
            <a:r>
              <a:rPr lang="en-US" b="1" dirty="0"/>
              <a:t>a) Actor (Who)</a:t>
            </a:r>
          </a:p>
          <a:p>
            <a:r>
              <a:rPr lang="en-US" dirty="0"/>
              <a:t>An </a:t>
            </a:r>
            <a:r>
              <a:rPr lang="en-US" b="1" dirty="0"/>
              <a:t>actor</a:t>
            </a:r>
            <a:r>
              <a:rPr lang="en-US" dirty="0"/>
              <a:t> is anyone or anything that uses the system.</a:t>
            </a:r>
          </a:p>
          <a:p>
            <a:r>
              <a:rPr lang="en-US" dirty="0"/>
              <a:t>Examples:</a:t>
            </a:r>
          </a:p>
          <a:p>
            <a:r>
              <a:rPr lang="en-US" dirty="0"/>
              <a:t>Student </a:t>
            </a:r>
          </a:p>
          <a:p>
            <a:r>
              <a:rPr lang="en-US" dirty="0"/>
              <a:t>Admin </a:t>
            </a:r>
          </a:p>
          <a:p>
            <a:r>
              <a:rPr lang="en-US" dirty="0"/>
              <a:t>Customer </a:t>
            </a:r>
          </a:p>
          <a:p>
            <a:r>
              <a:rPr lang="en-US" dirty="0"/>
              <a:t>Payment System </a:t>
            </a:r>
          </a:p>
          <a:p>
            <a:r>
              <a:rPr lang="en-US" dirty="0"/>
              <a:t>Actor is drawn as a </a:t>
            </a:r>
            <a:r>
              <a:rPr lang="en-US" b="1" dirty="0"/>
              <a:t>stick figure</a:t>
            </a:r>
            <a:endParaRPr lang="en-US" dirty="0"/>
          </a:p>
          <a:p>
            <a:endParaRPr lang="en-US" dirty="0"/>
          </a:p>
        </p:txBody>
      </p:sp>
      <p:pic>
        <p:nvPicPr>
          <p:cNvPr id="5" name="Picture 4">
            <a:extLst>
              <a:ext uri="{FF2B5EF4-FFF2-40B4-BE49-F238E27FC236}">
                <a16:creationId xmlns:a16="http://schemas.microsoft.com/office/drawing/2014/main" id="{8D26242E-C605-1A92-E7C0-672CF60299BB}"/>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554465" y="2308811"/>
            <a:ext cx="2074167" cy="2418640"/>
          </a:xfrm>
          <a:prstGeom prst="rect">
            <a:avLst/>
          </a:prstGeom>
        </p:spPr>
      </p:pic>
      <p:sp>
        <p:nvSpPr>
          <p:cNvPr id="6" name="TextBox 5">
            <a:extLst>
              <a:ext uri="{FF2B5EF4-FFF2-40B4-BE49-F238E27FC236}">
                <a16:creationId xmlns:a16="http://schemas.microsoft.com/office/drawing/2014/main" id="{1B4793DE-0EBD-1DF0-8963-2C716DB05B44}"/>
              </a:ext>
            </a:extLst>
          </p:cNvPr>
          <p:cNvSpPr txBox="1"/>
          <p:nvPr/>
        </p:nvSpPr>
        <p:spPr>
          <a:xfrm>
            <a:off x="7627617" y="4889429"/>
            <a:ext cx="2074167" cy="369332"/>
          </a:xfrm>
          <a:prstGeom prst="rect">
            <a:avLst/>
          </a:prstGeom>
          <a:noFill/>
        </p:spPr>
        <p:txBody>
          <a:bodyPr wrap="square" rtlCol="0">
            <a:spAutoFit/>
          </a:bodyPr>
          <a:lstStyle/>
          <a:p>
            <a:r>
              <a:rPr lang="en-US" sz="900">
                <a:hlinkClick r:id="rId3" tooltip="https://pt.wikipedia.org/wiki/Diagrama_de_caso_de_uso"/>
              </a:rPr>
              <a:t>This Photo</a:t>
            </a:r>
            <a:r>
              <a:rPr lang="en-US" sz="900"/>
              <a:t> by Unknown Author is licensed under </a:t>
            </a:r>
            <a:r>
              <a:rPr lang="en-US" sz="900">
                <a:hlinkClick r:id="rId4" tooltip="https://creativecommons.org/licenses/by-sa/3.0/"/>
              </a:rPr>
              <a:t>CC BY-SA</a:t>
            </a:r>
            <a:endParaRPr lang="en-US" sz="900"/>
          </a:p>
        </p:txBody>
      </p:sp>
    </p:spTree>
    <p:extLst>
      <p:ext uri="{BB962C8B-B14F-4D97-AF65-F5344CB8AC3E}">
        <p14:creationId xmlns:p14="http://schemas.microsoft.com/office/powerpoint/2010/main" val="9434682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27788-A9B9-A759-AC66-6DD19D3478D3}"/>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98157FEA-34C9-6B7E-AE62-D1C23D84CFAC}"/>
              </a:ext>
            </a:extLst>
          </p:cNvPr>
          <p:cNvSpPr>
            <a:spLocks noGrp="1"/>
          </p:cNvSpPr>
          <p:nvPr>
            <p:ph idx="1"/>
          </p:nvPr>
        </p:nvSpPr>
        <p:spPr/>
        <p:txBody>
          <a:bodyPr>
            <a:normAutofit fontScale="92500" lnSpcReduction="20000"/>
          </a:bodyPr>
          <a:lstStyle/>
          <a:p>
            <a:r>
              <a:rPr lang="en-US" b="1" dirty="0"/>
              <a:t>b) Use Case (What)</a:t>
            </a:r>
          </a:p>
          <a:p>
            <a:r>
              <a:rPr lang="en-US" dirty="0"/>
              <a:t>A </a:t>
            </a:r>
            <a:r>
              <a:rPr lang="en-US" b="1" dirty="0"/>
              <a:t>use case</a:t>
            </a:r>
            <a:r>
              <a:rPr lang="en-US" dirty="0"/>
              <a:t> is a task the user performs.</a:t>
            </a:r>
          </a:p>
          <a:p>
            <a:r>
              <a:rPr lang="en-US" dirty="0"/>
              <a:t>Examples:</a:t>
            </a:r>
          </a:p>
          <a:p>
            <a:r>
              <a:rPr lang="en-US" dirty="0"/>
              <a:t>Login </a:t>
            </a:r>
          </a:p>
          <a:p>
            <a:r>
              <a:rPr lang="en-US" dirty="0"/>
              <a:t>View Results </a:t>
            </a:r>
          </a:p>
          <a:p>
            <a:r>
              <a:rPr lang="en-US" dirty="0"/>
              <a:t>Make Payment </a:t>
            </a:r>
          </a:p>
          <a:p>
            <a:r>
              <a:rPr lang="en-US" dirty="0"/>
              <a:t>Upload Assignment </a:t>
            </a:r>
          </a:p>
          <a:p>
            <a:r>
              <a:rPr lang="en-US" dirty="0"/>
              <a:t>Drawn as an </a:t>
            </a:r>
            <a:r>
              <a:rPr lang="en-US" b="1" dirty="0"/>
              <a:t>oval shape</a:t>
            </a:r>
            <a:endParaRPr lang="en-US" dirty="0"/>
          </a:p>
          <a:p>
            <a:endParaRPr lang="en-US" dirty="0"/>
          </a:p>
        </p:txBody>
      </p:sp>
    </p:spTree>
    <p:extLst>
      <p:ext uri="{BB962C8B-B14F-4D97-AF65-F5344CB8AC3E}">
        <p14:creationId xmlns:p14="http://schemas.microsoft.com/office/powerpoint/2010/main" val="7526542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CA508-C8AB-E2C5-19F6-F51A33C0539A}"/>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8C0246CC-04BD-14FE-B2D4-674B52376108}"/>
              </a:ext>
            </a:extLst>
          </p:cNvPr>
          <p:cNvSpPr>
            <a:spLocks noGrp="1"/>
          </p:cNvSpPr>
          <p:nvPr>
            <p:ph idx="1"/>
          </p:nvPr>
        </p:nvSpPr>
        <p:spPr/>
        <p:txBody>
          <a:bodyPr>
            <a:normAutofit fontScale="85000" lnSpcReduction="20000"/>
          </a:bodyPr>
          <a:lstStyle/>
          <a:p>
            <a:r>
              <a:rPr lang="en-US" b="1" dirty="0"/>
              <a:t>c) System Boundary</a:t>
            </a:r>
          </a:p>
          <a:p>
            <a:r>
              <a:rPr lang="en-US" dirty="0"/>
              <a:t>This is a </a:t>
            </a:r>
            <a:r>
              <a:rPr lang="en-US" b="1" dirty="0"/>
              <a:t>box around the system</a:t>
            </a:r>
            <a:r>
              <a:rPr lang="en-US" dirty="0"/>
              <a:t> that shows what is inside your app.</a:t>
            </a:r>
          </a:p>
          <a:p>
            <a:r>
              <a:rPr lang="en-US" dirty="0"/>
              <a:t>Everything inside = app features</a:t>
            </a:r>
          </a:p>
          <a:p>
            <a:r>
              <a:rPr lang="en-US" dirty="0"/>
              <a:t>Everything outside = actors</a:t>
            </a:r>
          </a:p>
          <a:p>
            <a:r>
              <a:rPr lang="en-US" b="1" dirty="0"/>
              <a:t>d) Relationships (Connections)</a:t>
            </a:r>
          </a:p>
          <a:p>
            <a:r>
              <a:rPr lang="en-US" b="1" dirty="0"/>
              <a:t>1. Association</a:t>
            </a:r>
          </a:p>
          <a:p>
            <a:r>
              <a:rPr lang="en-US" dirty="0"/>
              <a:t>Line between actor and use case   shows interaction</a:t>
            </a:r>
          </a:p>
          <a:p>
            <a:r>
              <a:rPr lang="en-US" b="1" dirty="0"/>
              <a:t>2. Include (&lt;&lt;include&gt;&gt;)</a:t>
            </a:r>
          </a:p>
          <a:p>
            <a:r>
              <a:rPr lang="en-US" dirty="0"/>
              <a:t>One use case always uses another</a:t>
            </a:r>
          </a:p>
          <a:p>
            <a:endParaRPr lang="en-US" dirty="0"/>
          </a:p>
          <a:p>
            <a:endParaRPr lang="en-US" dirty="0"/>
          </a:p>
        </p:txBody>
      </p:sp>
    </p:spTree>
    <p:extLst>
      <p:ext uri="{BB962C8B-B14F-4D97-AF65-F5344CB8AC3E}">
        <p14:creationId xmlns:p14="http://schemas.microsoft.com/office/powerpoint/2010/main" val="20773581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EB7CA-34C3-6335-9B1E-ABE8BB1DDCC1}"/>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E5B1D428-FAE9-887E-57F5-1675832E3A85}"/>
              </a:ext>
            </a:extLst>
          </p:cNvPr>
          <p:cNvSpPr>
            <a:spLocks noGrp="1"/>
          </p:cNvSpPr>
          <p:nvPr>
            <p:ph idx="1"/>
          </p:nvPr>
        </p:nvSpPr>
        <p:spPr/>
        <p:txBody>
          <a:bodyPr/>
          <a:lstStyle/>
          <a:p>
            <a:r>
              <a:rPr lang="en-US" dirty="0"/>
              <a:t>Example: Login is required before “View Results”</a:t>
            </a:r>
          </a:p>
          <a:p>
            <a:r>
              <a:rPr lang="en-US" b="1" dirty="0"/>
              <a:t>3. Extend (&lt;&lt;extend&gt;&gt;)</a:t>
            </a:r>
          </a:p>
          <a:p>
            <a:r>
              <a:rPr lang="en-US" dirty="0"/>
              <a:t>Optional behavior</a:t>
            </a:r>
          </a:p>
          <a:p>
            <a:r>
              <a:rPr lang="en-US" dirty="0"/>
              <a:t>Example: “Forgot Password” extends Login</a:t>
            </a:r>
          </a:p>
          <a:p>
            <a:endParaRPr lang="en-US" dirty="0"/>
          </a:p>
        </p:txBody>
      </p:sp>
    </p:spTree>
    <p:extLst>
      <p:ext uri="{BB962C8B-B14F-4D97-AF65-F5344CB8AC3E}">
        <p14:creationId xmlns:p14="http://schemas.microsoft.com/office/powerpoint/2010/main" val="33522447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80C88-D819-11A7-2C42-52BC37E494E5}"/>
              </a:ext>
            </a:extLst>
          </p:cNvPr>
          <p:cNvSpPr>
            <a:spLocks noGrp="1"/>
          </p:cNvSpPr>
          <p:nvPr>
            <p:ph type="title"/>
          </p:nvPr>
        </p:nvSpPr>
        <p:spPr/>
        <p:txBody>
          <a:bodyPr/>
          <a:lstStyle/>
          <a:p>
            <a:r>
              <a:rPr lang="en-US" dirty="0"/>
              <a:t>Example: Library Management System</a:t>
            </a:r>
            <a:br>
              <a:rPr lang="en-US" dirty="0"/>
            </a:br>
            <a:endParaRPr lang="en-US" dirty="0"/>
          </a:p>
        </p:txBody>
      </p:sp>
      <p:sp>
        <p:nvSpPr>
          <p:cNvPr id="3" name="Content Placeholder 2">
            <a:extLst>
              <a:ext uri="{FF2B5EF4-FFF2-40B4-BE49-F238E27FC236}">
                <a16:creationId xmlns:a16="http://schemas.microsoft.com/office/drawing/2014/main" id="{37D8C4D9-21EC-D062-1E10-BC5B18A3052D}"/>
              </a:ext>
            </a:extLst>
          </p:cNvPr>
          <p:cNvSpPr>
            <a:spLocks noGrp="1"/>
          </p:cNvSpPr>
          <p:nvPr>
            <p:ph idx="1"/>
          </p:nvPr>
        </p:nvSpPr>
        <p:spPr/>
        <p:txBody>
          <a:bodyPr/>
          <a:lstStyle/>
          <a:p>
            <a:r>
              <a:rPr lang="en-US" b="1" dirty="0"/>
              <a:t>Step 1: Draw the System Box</a:t>
            </a:r>
          </a:p>
          <a:p>
            <a:r>
              <a:rPr lang="en-US" dirty="0"/>
              <a:t>First draw a big rectangle and label it:  Library System</a:t>
            </a:r>
          </a:p>
          <a:p>
            <a:r>
              <a:rPr lang="en-US" b="1" dirty="0"/>
              <a:t>Step 2: Add Actors (Outside the Box)</a:t>
            </a:r>
          </a:p>
          <a:p>
            <a:r>
              <a:rPr lang="en-US" dirty="0"/>
              <a:t>On the left side, draw stick figures:</a:t>
            </a:r>
          </a:p>
          <a:p>
            <a:r>
              <a:rPr lang="en-US" dirty="0"/>
              <a:t>Student </a:t>
            </a:r>
          </a:p>
          <a:p>
            <a:r>
              <a:rPr lang="en-US" dirty="0"/>
              <a:t>Librarian</a:t>
            </a:r>
          </a:p>
          <a:p>
            <a:endParaRPr lang="en-US" dirty="0"/>
          </a:p>
          <a:p>
            <a:endParaRPr lang="en-US" dirty="0"/>
          </a:p>
        </p:txBody>
      </p:sp>
    </p:spTree>
    <p:extLst>
      <p:ext uri="{BB962C8B-B14F-4D97-AF65-F5344CB8AC3E}">
        <p14:creationId xmlns:p14="http://schemas.microsoft.com/office/powerpoint/2010/main" val="21327175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CDDC0-F53B-3F7B-C239-99DC2FF8DFB8}"/>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822E9EA4-4CF6-CDD4-A6E2-A4DE51324429}"/>
              </a:ext>
            </a:extLst>
          </p:cNvPr>
          <p:cNvSpPr>
            <a:spLocks noGrp="1"/>
          </p:cNvSpPr>
          <p:nvPr>
            <p:ph idx="1"/>
          </p:nvPr>
        </p:nvSpPr>
        <p:spPr/>
        <p:txBody>
          <a:bodyPr/>
          <a:lstStyle/>
          <a:p>
            <a:r>
              <a:rPr lang="en-US" b="1" dirty="0"/>
              <a:t>Step 3: Add Use Cases (Inside the Box)</a:t>
            </a:r>
          </a:p>
          <a:p>
            <a:r>
              <a:rPr lang="en-US" dirty="0"/>
              <a:t>Draw ovals inside the box:</a:t>
            </a:r>
          </a:p>
          <a:p>
            <a:r>
              <a:rPr lang="en-US" dirty="0"/>
              <a:t>Login </a:t>
            </a:r>
          </a:p>
          <a:p>
            <a:r>
              <a:rPr lang="en-US" dirty="0"/>
              <a:t>Search Book </a:t>
            </a:r>
          </a:p>
          <a:p>
            <a:r>
              <a:rPr lang="en-US" dirty="0"/>
              <a:t>Issue Book </a:t>
            </a:r>
          </a:p>
          <a:p>
            <a:r>
              <a:rPr lang="en-US" dirty="0"/>
              <a:t>Return Book </a:t>
            </a:r>
          </a:p>
          <a:p>
            <a:r>
              <a:rPr lang="en-US" dirty="0"/>
              <a:t>Add Book</a:t>
            </a:r>
          </a:p>
          <a:p>
            <a:endParaRPr lang="en-US" dirty="0"/>
          </a:p>
        </p:txBody>
      </p:sp>
    </p:spTree>
    <p:extLst>
      <p:ext uri="{BB962C8B-B14F-4D97-AF65-F5344CB8AC3E}">
        <p14:creationId xmlns:p14="http://schemas.microsoft.com/office/powerpoint/2010/main" val="24726005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0F117-09C2-C890-6161-DC66D00DCEB6}"/>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057F4006-E336-C90C-9310-D48442F6AFBB}"/>
              </a:ext>
            </a:extLst>
          </p:cNvPr>
          <p:cNvSpPr>
            <a:spLocks noGrp="1"/>
          </p:cNvSpPr>
          <p:nvPr>
            <p:ph idx="1"/>
          </p:nvPr>
        </p:nvSpPr>
        <p:spPr/>
        <p:txBody>
          <a:bodyPr>
            <a:normAutofit fontScale="70000" lnSpcReduction="20000"/>
          </a:bodyPr>
          <a:lstStyle/>
          <a:p>
            <a:r>
              <a:rPr lang="en-US" b="1" dirty="0"/>
              <a:t>Step 4: Connect Actors to Use Cases</a:t>
            </a:r>
          </a:p>
          <a:p>
            <a:r>
              <a:rPr lang="en-US" b="1" dirty="0"/>
              <a:t>Student connects to:</a:t>
            </a:r>
          </a:p>
          <a:p>
            <a:r>
              <a:rPr lang="en-US" dirty="0"/>
              <a:t>Login </a:t>
            </a:r>
          </a:p>
          <a:p>
            <a:r>
              <a:rPr lang="en-US" dirty="0"/>
              <a:t>Search Book </a:t>
            </a:r>
          </a:p>
          <a:p>
            <a:r>
              <a:rPr lang="en-US" dirty="0"/>
              <a:t>Issue Book </a:t>
            </a:r>
          </a:p>
          <a:p>
            <a:r>
              <a:rPr lang="en-US" dirty="0"/>
              <a:t>Return Book </a:t>
            </a:r>
          </a:p>
          <a:p>
            <a:r>
              <a:rPr lang="en-US" b="1" dirty="0"/>
              <a:t>Librarian connects to:</a:t>
            </a:r>
          </a:p>
          <a:p>
            <a:r>
              <a:rPr lang="en-US" dirty="0"/>
              <a:t>Login </a:t>
            </a:r>
          </a:p>
          <a:p>
            <a:r>
              <a:rPr lang="en-US" dirty="0"/>
              <a:t>Add Book </a:t>
            </a:r>
          </a:p>
          <a:p>
            <a:r>
              <a:rPr lang="en-US" dirty="0"/>
              <a:t>Issue Book</a:t>
            </a:r>
          </a:p>
          <a:p>
            <a:endParaRPr lang="en-US" dirty="0"/>
          </a:p>
        </p:txBody>
      </p:sp>
    </p:spTree>
    <p:extLst>
      <p:ext uri="{BB962C8B-B14F-4D97-AF65-F5344CB8AC3E}">
        <p14:creationId xmlns:p14="http://schemas.microsoft.com/office/powerpoint/2010/main" val="25852683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7A5A1-3860-41EC-52A5-A7C3D2DF3425}"/>
              </a:ext>
            </a:extLst>
          </p:cNvPr>
          <p:cNvSpPr>
            <a:spLocks noGrp="1"/>
          </p:cNvSpPr>
          <p:nvPr>
            <p:ph type="title"/>
          </p:nvPr>
        </p:nvSpPr>
        <p:spPr/>
        <p:txBody>
          <a:bodyPr/>
          <a:lstStyle/>
          <a:p>
            <a:r>
              <a:rPr lang="en-US" dirty="0"/>
              <a:t>Home task</a:t>
            </a:r>
          </a:p>
        </p:txBody>
      </p:sp>
      <p:sp>
        <p:nvSpPr>
          <p:cNvPr id="3" name="Content Placeholder 2">
            <a:extLst>
              <a:ext uri="{FF2B5EF4-FFF2-40B4-BE49-F238E27FC236}">
                <a16:creationId xmlns:a16="http://schemas.microsoft.com/office/drawing/2014/main" id="{6C3B31C9-391A-8E36-E746-F47D27AC61F3}"/>
              </a:ext>
            </a:extLst>
          </p:cNvPr>
          <p:cNvSpPr>
            <a:spLocks noGrp="1"/>
          </p:cNvSpPr>
          <p:nvPr>
            <p:ph idx="1"/>
          </p:nvPr>
        </p:nvSpPr>
        <p:spPr/>
        <p:txBody>
          <a:bodyPr>
            <a:normAutofit fontScale="85000" lnSpcReduction="10000"/>
          </a:bodyPr>
          <a:lstStyle/>
          <a:p>
            <a:pPr algn="just"/>
            <a:r>
              <a:rPr lang="en-US" dirty="0"/>
              <a:t>A company wants to develop an online food ordering mobile application similar to </a:t>
            </a:r>
            <a:r>
              <a:rPr lang="en-US" dirty="0" err="1"/>
              <a:t>Foodpanda</a:t>
            </a:r>
            <a:r>
              <a:rPr lang="en-US" dirty="0"/>
              <a:t>. The system will have three main users: customer, restaurant owner, and delivery rider. The customer can register and log in to the app, browse different restaurants, view menus, add food items to a cart, place orders, make payments, and track their orders. The restaurant owner can log in, manage and update the menu, and accept or reject incoming orders before preparing the food. The delivery rider can log in, view assigned orders, pick up food from the restaurant, and deliver it to the customer. Based on this scenario, students are required to identify all the actors and use cases, and then draw a proper use case diagram by showing the system boundary, actors outside the system, use cases inside the system, and correct connections between them. Students may also include relationships like &lt;&lt;include&gt;&gt; (for example, login required before placing an order) and &lt;&lt;extend&gt;&gt; (such as optional order cancellation) for better understanding.</a:t>
            </a:r>
          </a:p>
        </p:txBody>
      </p:sp>
    </p:spTree>
    <p:extLst>
      <p:ext uri="{BB962C8B-B14F-4D97-AF65-F5344CB8AC3E}">
        <p14:creationId xmlns:p14="http://schemas.microsoft.com/office/powerpoint/2010/main" val="1614566198"/>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TM10001114[[fn=Gallery]]</Template>
  <TotalTime>3546</TotalTime>
  <Words>2078</Words>
  <Application>Microsoft Office PowerPoint</Application>
  <PresentationFormat>Widescreen</PresentationFormat>
  <Paragraphs>251</Paragraphs>
  <Slides>34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Gill Sans MT</vt:lpstr>
      <vt:lpstr>Gallery</vt:lpstr>
      <vt:lpstr>PowerPoint Presentation</vt:lpstr>
      <vt:lpstr>Lecture : 08</vt:lpstr>
      <vt:lpstr>Mobile apps for business</vt:lpstr>
      <vt:lpstr>What mobile apps do in business</vt:lpstr>
      <vt:lpstr>Cont…</vt:lpstr>
      <vt:lpstr>Cont…</vt:lpstr>
      <vt:lpstr>Why mobile apps are important for business</vt:lpstr>
      <vt:lpstr>Cont…</vt:lpstr>
      <vt:lpstr>Cont…</vt:lpstr>
      <vt:lpstr>Mobile app vs web app</vt:lpstr>
      <vt:lpstr>Cont…</vt:lpstr>
      <vt:lpstr>Types of mobile apps</vt:lpstr>
      <vt:lpstr>Cont…</vt:lpstr>
      <vt:lpstr>Cont…</vt:lpstr>
      <vt:lpstr>Cont…</vt:lpstr>
      <vt:lpstr>Mobile app designing &amp; planning</vt:lpstr>
      <vt:lpstr>Cont…</vt:lpstr>
      <vt:lpstr>Cont…</vt:lpstr>
      <vt:lpstr>Cont…</vt:lpstr>
      <vt:lpstr>Cont…</vt:lpstr>
      <vt:lpstr>Cont…</vt:lpstr>
      <vt:lpstr>Cont…</vt:lpstr>
      <vt:lpstr>Cont…</vt:lpstr>
      <vt:lpstr>Cont…</vt:lpstr>
      <vt:lpstr>Cont…</vt:lpstr>
      <vt:lpstr>What is Use case diagram</vt:lpstr>
      <vt:lpstr>Main elements</vt:lpstr>
      <vt:lpstr>Cont…</vt:lpstr>
      <vt:lpstr>Cont…</vt:lpstr>
      <vt:lpstr>Cont…</vt:lpstr>
      <vt:lpstr>Example: Library Management System </vt:lpstr>
      <vt:lpstr>Cont…</vt:lpstr>
      <vt:lpstr>Cont…</vt:lpstr>
      <vt:lpstr>Home task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Asad Javed</dc:creator>
  <cp:lastModifiedBy>Asad Javed</cp:lastModifiedBy>
  <cp:revision>367</cp:revision>
  <dcterms:created xsi:type="dcterms:W3CDTF">2025-09-12T12:30:33Z</dcterms:created>
  <dcterms:modified xsi:type="dcterms:W3CDTF">2026-04-18T08:21:34Z</dcterms:modified>
</cp:coreProperties>
</file>